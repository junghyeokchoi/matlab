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1" r:id="rId4"/>
    <p:sldId id="260" r:id="rId5"/>
    <p:sldId id="259" r:id="rId6"/>
    <p:sldId id="258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8" autoAdjust="0"/>
  </p:normalViewPr>
  <p:slideViewPr>
    <p:cSldViewPr>
      <p:cViewPr varScale="1">
        <p:scale>
          <a:sx n="87" d="100"/>
          <a:sy n="87" d="100"/>
        </p:scale>
        <p:origin x="-1330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직사각형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직사각형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선 연결선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직선 연결선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직선 연결선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직선 연결선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직선 연결선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직선 연결선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직사각형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타원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타원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타원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타원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타원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바닥글 개체 틀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직선 연결선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선 연결선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직선 연결선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직선 연결선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직선 연결선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직사각형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타원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타원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타원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타원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타원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직선 연결선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선 연결선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직선 연결선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직사각형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직선 연결선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타원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내용 개체 틀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21" name="날짜 개체 틀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3" name="바닥글 개체 틀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선 연결선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타원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직사각형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선 연결선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직선 연결선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직선 연결선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날짜 개체 틀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1" name="바닥글 개체 틀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선 연결선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A83C039-A214-44D0-B6DC-A7C82C966852}" type="datetimeFigureOut">
              <a:rPr lang="ko-KR" altLang="en-US" smtClean="0"/>
              <a:pPr/>
              <a:t>2016-06-05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사각형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선 연결선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타원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5C3335E-9FB7-4CE7-AB97-FD0321A03F7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1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1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1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1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1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1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1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tword.co.kr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124744"/>
            <a:ext cx="9144000" cy="1848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400" dirty="0" smtClean="0">
                <a:latin typeface="한컴 윤고딕 240" pitchFamily="18" charset="-127"/>
                <a:ea typeface="한컴 윤고딕 240" pitchFamily="18" charset="-127"/>
              </a:rPr>
              <a:t>실습평가 보고서</a:t>
            </a:r>
            <a:endParaRPr lang="en-US" altLang="ko-KR" sz="4400" dirty="0" smtClean="0">
              <a:latin typeface="한컴 윤고딕 240" pitchFamily="18" charset="-127"/>
              <a:ea typeface="한컴 윤고딕 240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200" dirty="0" smtClean="0">
                <a:latin typeface="한컴 윤고딕 240" pitchFamily="18" charset="-127"/>
                <a:ea typeface="한컴 윤고딕 240" pitchFamily="18" charset="-127"/>
              </a:rPr>
              <a:t>&lt; </a:t>
            </a:r>
            <a:r>
              <a:rPr lang="ko-KR" altLang="en-US" sz="3200" dirty="0" smtClean="0">
                <a:latin typeface="한컴 윤고딕 240" pitchFamily="18" charset="-127"/>
                <a:ea typeface="한컴 윤고딕 240" pitchFamily="18" charset="-127"/>
              </a:rPr>
              <a:t>대역확산 </a:t>
            </a:r>
            <a:r>
              <a:rPr lang="en-US" altLang="ko-KR" sz="3200" dirty="0" smtClean="0">
                <a:latin typeface="한컴 윤고딕 240" pitchFamily="18" charset="-127"/>
                <a:ea typeface="한컴 윤고딕 240" pitchFamily="18" charset="-127"/>
              </a:rPr>
              <a:t>+ OFDM &gt;</a:t>
            </a:r>
            <a:endParaRPr lang="ko-KR" altLang="en-US" sz="3200" dirty="0"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24128" y="5559952"/>
            <a:ext cx="3203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 smtClean="0">
                <a:latin typeface="한컴 윤고딕 230" pitchFamily="18" charset="-127"/>
                <a:ea typeface="한컴 윤고딕 230" pitchFamily="18" charset="-127"/>
              </a:rPr>
              <a:t>20117201	</a:t>
            </a:r>
            <a:r>
              <a:rPr lang="ko-KR" altLang="en-US" sz="2800" dirty="0" smtClean="0">
                <a:latin typeface="한컴 윤고딕 230" pitchFamily="18" charset="-127"/>
                <a:ea typeface="한컴 윤고딕 230" pitchFamily="18" charset="-127"/>
              </a:rPr>
              <a:t>최정혁</a:t>
            </a:r>
            <a:endParaRPr lang="ko-KR" altLang="en-US" sz="2800" dirty="0">
              <a:latin typeface="한컴 윤고딕 230" pitchFamily="18" charset="-127"/>
              <a:ea typeface="한컴 윤고딕 23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57508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송</a:t>
            </a:r>
            <a:r>
              <a:rPr lang="en-US" altLang="ko-KR" sz="2800" dirty="0" smtClean="0">
                <a:latin typeface="한컴 윤고딕 240" pitchFamily="18" charset="-127"/>
                <a:ea typeface="한컴 윤고딕 240" pitchFamily="18" charset="-127"/>
              </a:rPr>
              <a:t>/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수신 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블록도 </a:t>
            </a:r>
            <a:r>
              <a:rPr lang="en-US" altLang="ko-KR" sz="2800" dirty="0" smtClean="0">
                <a:latin typeface="한컴 윤고딕 240" pitchFamily="18" charset="-127"/>
                <a:ea typeface="한컴 윤고딕 240" pitchFamily="18" charset="-127"/>
              </a:rPr>
              <a:t>: 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확산이득이 </a:t>
            </a:r>
            <a:r>
              <a:rPr lang="en-US" altLang="ko-KR" sz="2800" dirty="0" smtClean="0">
                <a:latin typeface="한컴 윤고딕 240" pitchFamily="18" charset="-127"/>
                <a:ea typeface="한컴 윤고딕 240" pitchFamily="18" charset="-127"/>
              </a:rPr>
              <a:t>1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일 때</a:t>
            </a:r>
            <a:endParaRPr lang="ko-KR" altLang="en-US" sz="2800" dirty="0"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47564" y="1844824"/>
            <a:ext cx="1080120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randint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spc="-150" dirty="0" smtClean="0">
                <a:latin typeface="한컴 윤고딕 230" pitchFamily="18" charset="-127"/>
                <a:ea typeface="한컴 윤고딕 230" pitchFamily="18" charset="-127"/>
              </a:rPr>
              <a:t>512 bits</a:t>
            </a:r>
            <a:endParaRPr lang="ko-KR" altLang="en-US" spc="-150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087724" y="1844824"/>
            <a:ext cx="1224136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QPSK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Mapper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671900" y="1844824"/>
            <a:ext cx="1512168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PN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Spreading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X </a:t>
            </a:r>
            <a:r>
              <a:rPr lang="en-US" altLang="ko-KR" dirty="0">
                <a:latin typeface="한컴 윤고딕 230" pitchFamily="18" charset="-127"/>
                <a:ea typeface="한컴 윤고딕 230" pitchFamily="18" charset="-127"/>
              </a:rPr>
              <a:t>1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400092" y="1844824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256pt IFFT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7128284" y="1844824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14 CP Add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270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30" name="직선 화살표 연결선 29"/>
          <p:cNvCxnSpPr>
            <a:stCxn id="25" idx="3"/>
            <a:endCxn id="26" idx="1"/>
          </p:cNvCxnSpPr>
          <p:nvPr/>
        </p:nvCxnSpPr>
        <p:spPr>
          <a:xfrm>
            <a:off x="1727684" y="24208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31" name="직선 화살표 연결선 30"/>
          <p:cNvCxnSpPr>
            <a:stCxn id="26" idx="3"/>
            <a:endCxn id="27" idx="1"/>
          </p:cNvCxnSpPr>
          <p:nvPr/>
        </p:nvCxnSpPr>
        <p:spPr>
          <a:xfrm>
            <a:off x="3311860" y="24208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32" name="직선 화살표 연결선 31"/>
          <p:cNvCxnSpPr>
            <a:stCxn id="27" idx="3"/>
            <a:endCxn id="28" idx="1"/>
          </p:cNvCxnSpPr>
          <p:nvPr/>
        </p:nvCxnSpPr>
        <p:spPr>
          <a:xfrm>
            <a:off x="5184068" y="2420888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33" name="직선 화살표 연결선 32"/>
          <p:cNvCxnSpPr>
            <a:stCxn id="28" idx="3"/>
            <a:endCxn id="29" idx="1"/>
          </p:cNvCxnSpPr>
          <p:nvPr/>
        </p:nvCxnSpPr>
        <p:spPr>
          <a:xfrm>
            <a:off x="6768244" y="24208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34" name="직사각형 33"/>
          <p:cNvSpPr/>
          <p:nvPr/>
        </p:nvSpPr>
        <p:spPr>
          <a:xfrm>
            <a:off x="7128284" y="3356992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Channel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270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35" name="직선 화살표 연결선 34"/>
          <p:cNvCxnSpPr>
            <a:stCxn id="29" idx="2"/>
            <a:endCxn id="34" idx="0"/>
          </p:cNvCxnSpPr>
          <p:nvPr/>
        </p:nvCxnSpPr>
        <p:spPr>
          <a:xfrm>
            <a:off x="7812360" y="2996952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36" name="직사각형 35"/>
          <p:cNvSpPr/>
          <p:nvPr/>
        </p:nvSpPr>
        <p:spPr>
          <a:xfrm>
            <a:off x="7128284" y="4869160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14 CP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제거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37" name="직선 화살표 연결선 36"/>
          <p:cNvCxnSpPr>
            <a:stCxn id="34" idx="2"/>
            <a:endCxn id="36" idx="0"/>
          </p:cNvCxnSpPr>
          <p:nvPr/>
        </p:nvCxnSpPr>
        <p:spPr>
          <a:xfrm>
            <a:off x="7812360" y="450912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38" name="직사각형 37"/>
          <p:cNvSpPr/>
          <p:nvPr/>
        </p:nvSpPr>
        <p:spPr>
          <a:xfrm>
            <a:off x="647564" y="3573016"/>
            <a:ext cx="1080120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계</a:t>
            </a:r>
            <a:r>
              <a:rPr lang="ko-KR" altLang="en-US" dirty="0">
                <a:latin typeface="한컴 윤고딕 230" pitchFamily="18" charset="-127"/>
                <a:ea typeface="한컴 윤고딕 230" pitchFamily="18" charset="-127"/>
              </a:rPr>
              <a:t>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2231740" y="4869160"/>
            <a:ext cx="1080120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QPSK</a:t>
            </a:r>
          </a:p>
          <a:p>
            <a:pPr algn="ctr"/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deMap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spc="-150" dirty="0" smtClean="0">
                <a:latin typeface="한컴 윤고딕 230" pitchFamily="18" charset="-127"/>
                <a:ea typeface="한컴 윤고딕 230" pitchFamily="18" charset="-127"/>
              </a:rPr>
              <a:t>512 bits</a:t>
            </a:r>
            <a:endParaRPr lang="ko-KR" altLang="en-US" spc="-150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671900" y="4869160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PN</a:t>
            </a:r>
          </a:p>
          <a:p>
            <a:pPr algn="ctr"/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Despread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400092" y="4869160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256pt FFT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&amp; EQ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42" name="직선 화살표 연결선 41"/>
          <p:cNvCxnSpPr>
            <a:stCxn id="39" idx="3"/>
            <a:endCxn id="40" idx="1"/>
          </p:cNvCxnSpPr>
          <p:nvPr/>
        </p:nvCxnSpPr>
        <p:spPr>
          <a:xfrm>
            <a:off x="3311860" y="5445224"/>
            <a:ext cx="360040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43" name="직선 화살표 연결선 42"/>
          <p:cNvCxnSpPr>
            <a:stCxn id="40" idx="3"/>
            <a:endCxn id="41" idx="1"/>
          </p:cNvCxnSpPr>
          <p:nvPr/>
        </p:nvCxnSpPr>
        <p:spPr>
          <a:xfrm>
            <a:off x="5040052" y="5445224"/>
            <a:ext cx="360040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44" name="직선 화살표 연결선 43"/>
          <p:cNvCxnSpPr>
            <a:stCxn id="36" idx="1"/>
            <a:endCxn id="41" idx="3"/>
          </p:cNvCxnSpPr>
          <p:nvPr/>
        </p:nvCxnSpPr>
        <p:spPr>
          <a:xfrm flipH="1">
            <a:off x="6768244" y="544522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45" name="꺾인 연결선 35"/>
          <p:cNvCxnSpPr>
            <a:stCxn id="39" idx="1"/>
            <a:endCxn id="38" idx="2"/>
          </p:cNvCxnSpPr>
          <p:nvPr/>
        </p:nvCxnSpPr>
        <p:spPr>
          <a:xfrm rot="10800000">
            <a:off x="1187624" y="4725144"/>
            <a:ext cx="1044116" cy="7200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57508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송</a:t>
            </a:r>
            <a:r>
              <a:rPr lang="en-US" altLang="ko-KR" sz="2800" dirty="0" smtClean="0">
                <a:latin typeface="한컴 윤고딕 240" pitchFamily="18" charset="-127"/>
                <a:ea typeface="한컴 윤고딕 240" pitchFamily="18" charset="-127"/>
              </a:rPr>
              <a:t>/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수신 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블록도 </a:t>
            </a:r>
            <a:r>
              <a:rPr lang="en-US" altLang="ko-KR" sz="2800" dirty="0" smtClean="0">
                <a:latin typeface="한컴 윤고딕 240" pitchFamily="18" charset="-127"/>
                <a:ea typeface="한컴 윤고딕 240" pitchFamily="18" charset="-127"/>
              </a:rPr>
              <a:t>: 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확산이득이 </a:t>
            </a:r>
            <a:r>
              <a:rPr lang="en-US" altLang="ko-KR" sz="2800" dirty="0">
                <a:latin typeface="한컴 윤고딕 240" pitchFamily="18" charset="-127"/>
                <a:ea typeface="한컴 윤고딕 240" pitchFamily="18" charset="-127"/>
              </a:rPr>
              <a:t>4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일 때</a:t>
            </a:r>
            <a:endParaRPr lang="ko-KR" altLang="en-US" sz="2800" dirty="0"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47564" y="1844824"/>
            <a:ext cx="1080120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randint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spc="-150" dirty="0" smtClean="0">
                <a:latin typeface="한컴 윤고딕 230" pitchFamily="18" charset="-127"/>
                <a:ea typeface="한컴 윤고딕 230" pitchFamily="18" charset="-127"/>
              </a:rPr>
              <a:t>128 bits</a:t>
            </a:r>
            <a:endParaRPr lang="ko-KR" altLang="en-US" spc="-150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87724" y="1844824"/>
            <a:ext cx="1224136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QPSK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Mapper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64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671900" y="1844824"/>
            <a:ext cx="1512168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PN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Spreading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X </a:t>
            </a:r>
            <a:r>
              <a:rPr lang="en-US" altLang="ko-KR" dirty="0">
                <a:latin typeface="한컴 윤고딕 230" pitchFamily="18" charset="-127"/>
                <a:ea typeface="한컴 윤고딕 230" pitchFamily="18" charset="-127"/>
              </a:rPr>
              <a:t>4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400092" y="1844824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256pt IFFT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28284" y="1844824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14 CP Add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270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8" name="직선 화살표 연결선 7"/>
          <p:cNvCxnSpPr>
            <a:stCxn id="3" idx="3"/>
            <a:endCxn id="4" idx="1"/>
          </p:cNvCxnSpPr>
          <p:nvPr/>
        </p:nvCxnSpPr>
        <p:spPr>
          <a:xfrm>
            <a:off x="1727684" y="24208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9" name="직선 화살표 연결선 8"/>
          <p:cNvCxnSpPr>
            <a:stCxn id="4" idx="3"/>
            <a:endCxn id="5" idx="1"/>
          </p:cNvCxnSpPr>
          <p:nvPr/>
        </p:nvCxnSpPr>
        <p:spPr>
          <a:xfrm>
            <a:off x="3311860" y="24208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10" name="직선 화살표 연결선 9"/>
          <p:cNvCxnSpPr>
            <a:stCxn id="5" idx="3"/>
            <a:endCxn id="6" idx="1"/>
          </p:cNvCxnSpPr>
          <p:nvPr/>
        </p:nvCxnSpPr>
        <p:spPr>
          <a:xfrm>
            <a:off x="5184068" y="2420888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11" name="직선 화살표 연결선 10"/>
          <p:cNvCxnSpPr>
            <a:stCxn id="6" idx="3"/>
            <a:endCxn id="7" idx="1"/>
          </p:cNvCxnSpPr>
          <p:nvPr/>
        </p:nvCxnSpPr>
        <p:spPr>
          <a:xfrm>
            <a:off x="6768244" y="24208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12" name="직사각형 11"/>
          <p:cNvSpPr/>
          <p:nvPr/>
        </p:nvSpPr>
        <p:spPr>
          <a:xfrm>
            <a:off x="7128284" y="3356992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Channel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270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13" name="직선 화살표 연결선 12"/>
          <p:cNvCxnSpPr>
            <a:stCxn id="7" idx="2"/>
            <a:endCxn id="12" idx="0"/>
          </p:cNvCxnSpPr>
          <p:nvPr/>
        </p:nvCxnSpPr>
        <p:spPr>
          <a:xfrm>
            <a:off x="7812360" y="2996952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14" name="직사각형 13"/>
          <p:cNvSpPr/>
          <p:nvPr/>
        </p:nvSpPr>
        <p:spPr>
          <a:xfrm>
            <a:off x="7128284" y="4869160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14 CP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제거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15" name="직선 화살표 연결선 14"/>
          <p:cNvCxnSpPr>
            <a:stCxn id="12" idx="2"/>
            <a:endCxn id="14" idx="0"/>
          </p:cNvCxnSpPr>
          <p:nvPr/>
        </p:nvCxnSpPr>
        <p:spPr>
          <a:xfrm>
            <a:off x="7812360" y="450912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16" name="직사각형 15"/>
          <p:cNvSpPr/>
          <p:nvPr/>
        </p:nvSpPr>
        <p:spPr>
          <a:xfrm>
            <a:off x="647564" y="3573016"/>
            <a:ext cx="1080120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계</a:t>
            </a:r>
            <a:r>
              <a:rPr lang="ko-KR" altLang="en-US" dirty="0">
                <a:latin typeface="한컴 윤고딕 230" pitchFamily="18" charset="-127"/>
                <a:ea typeface="한컴 윤고딕 230" pitchFamily="18" charset="-127"/>
              </a:rPr>
              <a:t>산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231740" y="4869160"/>
            <a:ext cx="1080120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QPSK</a:t>
            </a:r>
          </a:p>
          <a:p>
            <a:pPr algn="ctr"/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deMap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spc="-150" dirty="0" smtClean="0">
                <a:latin typeface="한컴 윤고딕 230" pitchFamily="18" charset="-127"/>
                <a:ea typeface="한컴 윤고딕 230" pitchFamily="18" charset="-127"/>
              </a:rPr>
              <a:t>128 bits</a:t>
            </a:r>
            <a:endParaRPr lang="ko-KR" altLang="en-US" spc="-150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671900" y="4869160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PN</a:t>
            </a:r>
          </a:p>
          <a:p>
            <a:pPr algn="ctr"/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Despread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64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400092" y="4869160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256pt FFT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&amp; EQ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20" name="직선 화살표 연결선 19"/>
          <p:cNvCxnSpPr>
            <a:stCxn id="17" idx="3"/>
            <a:endCxn id="18" idx="1"/>
          </p:cNvCxnSpPr>
          <p:nvPr/>
        </p:nvCxnSpPr>
        <p:spPr>
          <a:xfrm>
            <a:off x="3311860" y="5445224"/>
            <a:ext cx="360040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21" name="직선 화살표 연결선 20"/>
          <p:cNvCxnSpPr>
            <a:stCxn id="18" idx="3"/>
            <a:endCxn id="19" idx="1"/>
          </p:cNvCxnSpPr>
          <p:nvPr/>
        </p:nvCxnSpPr>
        <p:spPr>
          <a:xfrm>
            <a:off x="5040052" y="5445224"/>
            <a:ext cx="360040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22" name="직선 화살표 연결선 21"/>
          <p:cNvCxnSpPr>
            <a:stCxn id="14" idx="1"/>
            <a:endCxn id="19" idx="3"/>
          </p:cNvCxnSpPr>
          <p:nvPr/>
        </p:nvCxnSpPr>
        <p:spPr>
          <a:xfrm flipH="1">
            <a:off x="6768244" y="544522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23" name="꺾인 연결선 35"/>
          <p:cNvCxnSpPr>
            <a:stCxn id="17" idx="1"/>
            <a:endCxn id="16" idx="2"/>
          </p:cNvCxnSpPr>
          <p:nvPr/>
        </p:nvCxnSpPr>
        <p:spPr>
          <a:xfrm rot="10800000">
            <a:off x="1187624" y="4725144"/>
            <a:ext cx="1044116" cy="7200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57508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송</a:t>
            </a:r>
            <a:r>
              <a:rPr lang="en-US" altLang="ko-KR" sz="2800" dirty="0" smtClean="0">
                <a:latin typeface="한컴 윤고딕 240" pitchFamily="18" charset="-127"/>
                <a:ea typeface="한컴 윤고딕 240" pitchFamily="18" charset="-127"/>
              </a:rPr>
              <a:t>/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수신 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블록도 </a:t>
            </a:r>
            <a:r>
              <a:rPr lang="en-US" altLang="ko-KR" sz="2800" dirty="0" smtClean="0">
                <a:latin typeface="한컴 윤고딕 240" pitchFamily="18" charset="-127"/>
                <a:ea typeface="한컴 윤고딕 240" pitchFamily="18" charset="-127"/>
              </a:rPr>
              <a:t>: 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확산이득이 </a:t>
            </a:r>
            <a:r>
              <a:rPr lang="en-US" altLang="ko-KR" sz="2800" dirty="0" smtClean="0">
                <a:latin typeface="한컴 윤고딕 240" pitchFamily="18" charset="-127"/>
                <a:ea typeface="한컴 윤고딕 240" pitchFamily="18" charset="-127"/>
              </a:rPr>
              <a:t>16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일 때</a:t>
            </a:r>
            <a:endParaRPr lang="ko-KR" altLang="en-US" sz="2800" dirty="0"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47564" y="1844824"/>
            <a:ext cx="1080120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randint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32 bits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87724" y="1844824"/>
            <a:ext cx="1224136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QPSK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Mapper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16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671900" y="1844824"/>
            <a:ext cx="1512168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PN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Spreading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X 16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400092" y="1844824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256pt IFFT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28284" y="1844824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14 CP Add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270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8" name="직선 화살표 연결선 7"/>
          <p:cNvCxnSpPr>
            <a:stCxn id="3" idx="3"/>
            <a:endCxn id="4" idx="1"/>
          </p:cNvCxnSpPr>
          <p:nvPr/>
        </p:nvCxnSpPr>
        <p:spPr>
          <a:xfrm>
            <a:off x="1727684" y="24208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9" name="직선 화살표 연결선 8"/>
          <p:cNvCxnSpPr>
            <a:stCxn id="4" idx="3"/>
            <a:endCxn id="5" idx="1"/>
          </p:cNvCxnSpPr>
          <p:nvPr/>
        </p:nvCxnSpPr>
        <p:spPr>
          <a:xfrm>
            <a:off x="3311860" y="24208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10" name="직선 화살표 연결선 9"/>
          <p:cNvCxnSpPr>
            <a:stCxn id="5" idx="3"/>
            <a:endCxn id="6" idx="1"/>
          </p:cNvCxnSpPr>
          <p:nvPr/>
        </p:nvCxnSpPr>
        <p:spPr>
          <a:xfrm>
            <a:off x="5184068" y="2420888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11" name="직선 화살표 연결선 10"/>
          <p:cNvCxnSpPr>
            <a:stCxn id="6" idx="3"/>
            <a:endCxn id="7" idx="1"/>
          </p:cNvCxnSpPr>
          <p:nvPr/>
        </p:nvCxnSpPr>
        <p:spPr>
          <a:xfrm>
            <a:off x="6768244" y="24208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12" name="직사각형 11"/>
          <p:cNvSpPr/>
          <p:nvPr/>
        </p:nvSpPr>
        <p:spPr>
          <a:xfrm>
            <a:off x="7128284" y="3356992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Channel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270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13" name="직선 화살표 연결선 12"/>
          <p:cNvCxnSpPr>
            <a:stCxn id="7" idx="2"/>
            <a:endCxn id="12" idx="0"/>
          </p:cNvCxnSpPr>
          <p:nvPr/>
        </p:nvCxnSpPr>
        <p:spPr>
          <a:xfrm>
            <a:off x="7812360" y="2996952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14" name="직사각형 13"/>
          <p:cNvSpPr/>
          <p:nvPr/>
        </p:nvSpPr>
        <p:spPr>
          <a:xfrm>
            <a:off x="7128284" y="4869160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14 CP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제거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15" name="직선 화살표 연결선 14"/>
          <p:cNvCxnSpPr>
            <a:stCxn id="12" idx="2"/>
            <a:endCxn id="14" idx="0"/>
          </p:cNvCxnSpPr>
          <p:nvPr/>
        </p:nvCxnSpPr>
        <p:spPr>
          <a:xfrm>
            <a:off x="7812360" y="4509120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16" name="직사각형 15"/>
          <p:cNvSpPr/>
          <p:nvPr/>
        </p:nvSpPr>
        <p:spPr>
          <a:xfrm>
            <a:off x="647564" y="3573016"/>
            <a:ext cx="1080120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계</a:t>
            </a:r>
            <a:r>
              <a:rPr lang="ko-KR" altLang="en-US" dirty="0">
                <a:latin typeface="한컴 윤고딕 230" pitchFamily="18" charset="-127"/>
                <a:ea typeface="한컴 윤고딕 230" pitchFamily="18" charset="-127"/>
              </a:rPr>
              <a:t>산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231740" y="4869160"/>
            <a:ext cx="1080120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QPSK</a:t>
            </a:r>
          </a:p>
          <a:p>
            <a:pPr algn="ctr"/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deMap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32 bits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671900" y="4869160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PN</a:t>
            </a:r>
          </a:p>
          <a:p>
            <a:pPr algn="ctr"/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Despread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16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400092" y="4869160"/>
            <a:ext cx="1368152" cy="11521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256pt FFT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&amp; EQ</a:t>
            </a:r>
          </a:p>
          <a:p>
            <a:pPr algn="ctr"/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256 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syms</a:t>
            </a:r>
            <a:endParaRPr lang="ko-KR" altLang="en-US" dirty="0">
              <a:latin typeface="한컴 윤고딕 230" pitchFamily="18" charset="-127"/>
              <a:ea typeface="한컴 윤고딕 230" pitchFamily="18" charset="-127"/>
            </a:endParaRPr>
          </a:p>
        </p:txBody>
      </p:sp>
      <p:cxnSp>
        <p:nvCxnSpPr>
          <p:cNvPr id="20" name="직선 화살표 연결선 19"/>
          <p:cNvCxnSpPr>
            <a:stCxn id="17" idx="3"/>
            <a:endCxn id="18" idx="1"/>
          </p:cNvCxnSpPr>
          <p:nvPr/>
        </p:nvCxnSpPr>
        <p:spPr>
          <a:xfrm>
            <a:off x="3311860" y="5445224"/>
            <a:ext cx="360040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21" name="직선 화살표 연결선 20"/>
          <p:cNvCxnSpPr>
            <a:stCxn id="18" idx="3"/>
            <a:endCxn id="19" idx="1"/>
          </p:cNvCxnSpPr>
          <p:nvPr/>
        </p:nvCxnSpPr>
        <p:spPr>
          <a:xfrm>
            <a:off x="5040052" y="5445224"/>
            <a:ext cx="360040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22" name="직선 화살표 연결선 21"/>
          <p:cNvCxnSpPr>
            <a:stCxn id="14" idx="1"/>
            <a:endCxn id="19" idx="3"/>
          </p:cNvCxnSpPr>
          <p:nvPr/>
        </p:nvCxnSpPr>
        <p:spPr>
          <a:xfrm flipH="1">
            <a:off x="6768244" y="5445224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23" name="꺾인 연결선 35"/>
          <p:cNvCxnSpPr>
            <a:stCxn id="17" idx="1"/>
            <a:endCxn id="16" idx="2"/>
          </p:cNvCxnSpPr>
          <p:nvPr/>
        </p:nvCxnSpPr>
        <p:spPr>
          <a:xfrm rot="10800000">
            <a:off x="1187624" y="4725144"/>
            <a:ext cx="1044116" cy="72008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57508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latin typeface="한컴 윤고딕 240" pitchFamily="18" charset="-127"/>
                <a:ea typeface="한컴 윤고딕 240" pitchFamily="18" charset="-127"/>
              </a:rPr>
              <a:t>BER Simulation </a:t>
            </a:r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수행</a:t>
            </a:r>
            <a:endParaRPr lang="ko-KR" altLang="en-US" sz="2800" dirty="0">
              <a:latin typeface="한컴 윤고딕 240" pitchFamily="18" charset="-127"/>
              <a:ea typeface="한컴 윤고딕 240" pitchFamily="18" charset="-127"/>
            </a:endParaRPr>
          </a:p>
        </p:txBody>
      </p:sp>
      <p:pic>
        <p:nvPicPr>
          <p:cNvPr id="1026" name="Picture 2" descr="C:\Users\JungHyeok\Desktop\B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052736"/>
            <a:ext cx="7105200" cy="53285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57508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공식대로 확산이득이 얻어지는 지 확인</a:t>
            </a:r>
            <a:endParaRPr lang="ko-KR" altLang="en-US" sz="2800" dirty="0"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1124744"/>
            <a:ext cx="84969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공식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: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확산이득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(SG),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  <a:sym typeface="Wingdings" panose="05000000000000000000" pitchFamily="2" charset="2"/>
              </a:rPr>
              <a:t>10log</a:t>
            </a:r>
            <a:r>
              <a:rPr lang="en-US" altLang="ko-KR" sz="2000" baseline="-25000" dirty="0" smtClean="0">
                <a:latin typeface="한컴 윤고딕 230" pitchFamily="18" charset="-127"/>
                <a:ea typeface="한컴 윤고딕 230" pitchFamily="18" charset="-127"/>
                <a:sym typeface="Wingdings" panose="05000000000000000000" pitchFamily="2" charset="2"/>
              </a:rPr>
              <a:t>10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  <a:sym typeface="Wingdings" panose="05000000000000000000" pitchFamily="2" charset="2"/>
              </a:rPr>
              <a:t>SG = x[dB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  <a:sym typeface="Wingdings" panose="05000000000000000000" pitchFamily="2" charset="2"/>
              </a:rPr>
              <a:t>]</a:t>
            </a:r>
            <a:endParaRPr lang="ko-KR" altLang="en-US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>
              <a:buFont typeface="Wingdings" pitchFamily="2" charset="2"/>
              <a:buChar char="v"/>
            </a:pP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예상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</a:p>
          <a:p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  - SG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=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1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기준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, SG = 4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  <a:sym typeface="Wingdings" panose="05000000000000000000" pitchFamily="2" charset="2"/>
              </a:rPr>
              <a:t>→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  <a:sym typeface="Wingdings" panose="05000000000000000000" pitchFamily="2" charset="2"/>
              </a:rPr>
              <a:t>6[dB], SG = 16 → 12[dB]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  <a:sym typeface="Wingdings" panose="05000000000000000000" pitchFamily="2" charset="2"/>
              </a:rPr>
              <a:t>만큼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  <a:sym typeface="Wingdings" panose="05000000000000000000" pitchFamily="2" charset="2"/>
              </a:rPr>
              <a:t>SNR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  <a:sym typeface="Wingdings" panose="05000000000000000000" pitchFamily="2" charset="2"/>
              </a:rPr>
              <a:t>개선</a:t>
            </a:r>
            <a:endParaRPr lang="en-US" altLang="ko-KR" sz="2000" dirty="0" smtClean="0">
              <a:latin typeface="한컴 윤고딕 230" pitchFamily="18" charset="-127"/>
              <a:ea typeface="한컴 윤고딕 230" pitchFamily="18" charset="-127"/>
              <a:sym typeface="Wingdings" panose="05000000000000000000" pitchFamily="2" charset="2"/>
            </a:endParaRPr>
          </a:p>
          <a:p>
            <a:endParaRPr lang="en-US" altLang="ko-KR" sz="2000" dirty="0" smtClean="0">
              <a:latin typeface="한컴 윤고딕 230" pitchFamily="18" charset="-127"/>
              <a:ea typeface="한컴 윤고딕 230" pitchFamily="18" charset="-127"/>
              <a:sym typeface="Wingdings" panose="05000000000000000000" pitchFamily="2" charset="2"/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SG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= 4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일 때의 경우에는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공식과 일치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,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SG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=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16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일 때는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불일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치</a:t>
            </a:r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</p:txBody>
      </p:sp>
      <p:pic>
        <p:nvPicPr>
          <p:cNvPr id="17" name="Picture 2" descr="C:\Users\JungHyeok\Desktop\BE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3123091"/>
            <a:ext cx="4968552" cy="3726198"/>
          </a:xfrm>
          <a:prstGeom prst="rect">
            <a:avLst/>
          </a:prstGeom>
          <a:noFill/>
        </p:spPr>
      </p:pic>
      <p:cxnSp>
        <p:nvCxnSpPr>
          <p:cNvPr id="23" name="직선 화살표 연결선 22"/>
          <p:cNvCxnSpPr/>
          <p:nvPr/>
        </p:nvCxnSpPr>
        <p:spPr>
          <a:xfrm>
            <a:off x="2195736" y="521410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7240" y="501317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기준 </a:t>
            </a:r>
            <a:r>
              <a:rPr lang="en-US" altLang="ko-KR" dirty="0" smtClean="0"/>
              <a:t>BER</a:t>
            </a:r>
            <a:endParaRPr lang="ko-KR" altLang="en-US" dirty="0"/>
          </a:p>
        </p:txBody>
      </p:sp>
      <p:cxnSp>
        <p:nvCxnSpPr>
          <p:cNvPr id="27" name="직선 화살표 연결선 26"/>
          <p:cNvCxnSpPr/>
          <p:nvPr/>
        </p:nvCxnSpPr>
        <p:spPr>
          <a:xfrm flipH="1">
            <a:off x="4932040" y="4941168"/>
            <a:ext cx="50405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 flipH="1">
            <a:off x="4572000" y="5085184"/>
            <a:ext cx="1152128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091940" y="5157192"/>
            <a:ext cx="8412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약 </a:t>
            </a:r>
            <a:r>
              <a:rPr lang="en-US" altLang="ko-KR" sz="1300" dirty="0" smtClean="0"/>
              <a:t>10dB</a:t>
            </a:r>
            <a:endParaRPr lang="ko-KR" altLang="en-US" sz="1300" dirty="0"/>
          </a:p>
        </p:txBody>
      </p:sp>
      <p:sp>
        <p:nvSpPr>
          <p:cNvPr id="34" name="TextBox 33"/>
          <p:cNvSpPr txBox="1"/>
          <p:nvPr/>
        </p:nvSpPr>
        <p:spPr>
          <a:xfrm>
            <a:off x="5192648" y="4577700"/>
            <a:ext cx="7200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 smtClean="0"/>
              <a:t>약 </a:t>
            </a:r>
            <a:r>
              <a:rPr lang="en-US" altLang="ko-KR" sz="1300" dirty="0" smtClean="0"/>
              <a:t>6</a:t>
            </a:r>
            <a:r>
              <a:rPr lang="en-US" altLang="ko-KR" sz="1300" dirty="0" smtClean="0"/>
              <a:t>dB</a:t>
            </a:r>
            <a:endParaRPr lang="ko-KR" alt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57508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예상과 다른 이유</a:t>
            </a:r>
            <a:endParaRPr lang="ko-KR" altLang="en-US" sz="2800" dirty="0"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1124744"/>
            <a:ext cx="828092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Multipath fading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채널에서 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ISI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 발생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>
              <a:buFont typeface="Wingdings" pitchFamily="2" charset="2"/>
              <a:buChar char="v"/>
            </a:pP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ISI(</a:t>
            </a:r>
            <a:r>
              <a:rPr lang="en-US" altLang="ko-KR" dirty="0" err="1" smtClean="0">
                <a:latin typeface="한컴 윤고딕 230" pitchFamily="18" charset="-127"/>
                <a:ea typeface="한컴 윤고딕 230" pitchFamily="18" charset="-127"/>
              </a:rPr>
              <a:t>InterSymbol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 Interference)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란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?</a:t>
            </a:r>
          </a:p>
          <a:p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    - 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다중 경로 </a:t>
            </a:r>
            <a:r>
              <a:rPr lang="ko-KR" altLang="en-US" dirty="0" err="1" smtClean="0">
                <a:latin typeface="한컴 윤고딕 230" pitchFamily="18" charset="-127"/>
                <a:ea typeface="한컴 윤고딕 230" pitchFamily="18" charset="-127"/>
              </a:rPr>
              <a:t>페이딩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,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대역제한 채널을 통과하면서 이웃 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Symbol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들과 겹치며 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       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 비트에러를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발생시키는 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Symbol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간 산호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간섭현상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 ISI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과 잡음의 차이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    -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잡음은 신호의 존재 유무와 상관없이 거의 항상 존재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  <a:p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     - ISI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는 채널 상 외부 잡음이 존재하지 않을 때에도 발생</a:t>
            </a:r>
            <a:r>
              <a:rPr lang="en-US" altLang="ko-KR" dirty="0" smtClean="0">
                <a:latin typeface="한컴 윤고딕 230" pitchFamily="18" charset="-127"/>
                <a:ea typeface="한컴 윤고딕 230" pitchFamily="18" charset="-127"/>
              </a:rPr>
              <a:t>, </a:t>
            </a:r>
            <a:r>
              <a:rPr lang="ko-KR" altLang="en-US" dirty="0" smtClean="0">
                <a:latin typeface="한컴 윤고딕 230" pitchFamily="18" charset="-127"/>
                <a:ea typeface="한컴 윤고딕 230" pitchFamily="18" charset="-127"/>
              </a:rPr>
              <a:t>신호에 의존적임</a:t>
            </a:r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</p:txBody>
      </p:sp>
      <p:pic>
        <p:nvPicPr>
          <p:cNvPr id="2051" name="Picture 3" descr="C:\Users\JungHyeok\Desktop\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3212976"/>
            <a:ext cx="2088232" cy="11373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57508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예상과 다른 이유</a:t>
            </a:r>
            <a:endParaRPr lang="ko-KR" altLang="en-US" sz="2800" dirty="0"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1124744"/>
            <a:ext cx="828092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ISI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보상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(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대책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)</a:t>
            </a:r>
          </a:p>
          <a:p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   1.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채널 상의 등화 기법</a:t>
            </a:r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       -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채널 </a:t>
            </a:r>
            <a:r>
              <a:rPr lang="ko-KR" altLang="en-US" sz="2000" dirty="0" err="1" smtClean="0">
                <a:latin typeface="한컴 윤고딕 230" pitchFamily="18" charset="-127"/>
                <a:ea typeface="한컴 윤고딕 230" pitchFamily="18" charset="-127"/>
              </a:rPr>
              <a:t>외곡에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의한 심볼 파형의 일그러짐을 보상하는 필터 등을 사용</a:t>
            </a:r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    2.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펄스성형 기술</a:t>
            </a:r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       -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심볼간 </a:t>
            </a:r>
            <a:r>
              <a:rPr lang="ko-KR" altLang="en-US" sz="2000" dirty="0" err="1" smtClean="0">
                <a:latin typeface="한컴 윤고딕 230" pitchFamily="18" charset="-127"/>
                <a:ea typeface="한컴 윤고딕 230" pitchFamily="18" charset="-127"/>
              </a:rPr>
              <a:t>파형겹침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등을 최소화 하도록 신호 파형의 설계</a:t>
            </a:r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    3. OFDM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에서는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CP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사용</a:t>
            </a:r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        - 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보다 긴 보호구간 삽입하는 방법</a:t>
            </a:r>
            <a:endParaRPr lang="en-US" altLang="ko-KR" sz="2000" dirty="0" smtClean="0">
              <a:latin typeface="한컴 윤고딕 230" pitchFamily="18" charset="-127"/>
              <a:ea typeface="한컴 윤고딕 230" pitchFamily="18" charset="-127"/>
            </a:endParaRPr>
          </a:p>
          <a:p>
            <a:endParaRPr lang="en-US" altLang="ko-KR" dirty="0" smtClean="0">
              <a:latin typeface="한컴 윤고딕 230" pitchFamily="18" charset="-127"/>
              <a:ea typeface="한컴 윤고딕 230" pitchFamily="18" charset="-127"/>
            </a:endParaRPr>
          </a:p>
        </p:txBody>
      </p:sp>
      <p:pic>
        <p:nvPicPr>
          <p:cNvPr id="3074" name="Picture 2" descr="C:\Users\JungHyeok\Desktop\BER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8072" y="4514568"/>
            <a:ext cx="3072519" cy="2304256"/>
          </a:xfrm>
          <a:prstGeom prst="rect">
            <a:avLst/>
          </a:prstGeom>
          <a:noFill/>
        </p:spPr>
      </p:pic>
      <p:cxnSp>
        <p:nvCxnSpPr>
          <p:cNvPr id="7" name="직선 화살표 연결선 6"/>
          <p:cNvCxnSpPr/>
          <p:nvPr/>
        </p:nvCxnSpPr>
        <p:spPr>
          <a:xfrm>
            <a:off x="1429592" y="5814376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1096" y="561344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기준 </a:t>
            </a:r>
            <a:r>
              <a:rPr lang="en-US" altLang="ko-KR" dirty="0" smtClean="0"/>
              <a:t>BER</a:t>
            </a:r>
            <a:endParaRPr lang="ko-KR" altLang="en-US" dirty="0"/>
          </a:p>
        </p:txBody>
      </p:sp>
      <p:sp>
        <p:nvSpPr>
          <p:cNvPr id="9" name="타원 8"/>
          <p:cNvSpPr/>
          <p:nvPr/>
        </p:nvSpPr>
        <p:spPr>
          <a:xfrm>
            <a:off x="3428232" y="5703144"/>
            <a:ext cx="288032" cy="216024"/>
          </a:xfrm>
          <a:prstGeom prst="ellipse">
            <a:avLst/>
          </a:prstGeom>
          <a:noFill/>
          <a:ln w="127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5" name="Picture 3" descr="C:\Users\JungHyeok\Desktop\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6282" y="3789040"/>
            <a:ext cx="3967922" cy="3068960"/>
          </a:xfrm>
          <a:prstGeom prst="rect">
            <a:avLst/>
          </a:prstGeom>
          <a:noFill/>
        </p:spPr>
      </p:pic>
      <p:cxnSp>
        <p:nvCxnSpPr>
          <p:cNvPr id="12" name="직선 연결선 11"/>
          <p:cNvCxnSpPr>
            <a:stCxn id="9" idx="0"/>
          </p:cNvCxnSpPr>
          <p:nvPr/>
        </p:nvCxnSpPr>
        <p:spPr>
          <a:xfrm flipV="1">
            <a:off x="3572248" y="3789040"/>
            <a:ext cx="1647824" cy="1914104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9" idx="4"/>
          </p:cNvCxnSpPr>
          <p:nvPr/>
        </p:nvCxnSpPr>
        <p:spPr>
          <a:xfrm>
            <a:off x="3572248" y="5919168"/>
            <a:ext cx="1647824" cy="938832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24328" y="4005064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 smtClean="0"/>
              <a:t>3</a:t>
            </a:r>
            <a:r>
              <a:rPr lang="ko-KR" altLang="en-US" sz="1400" dirty="0" smtClean="0"/>
              <a:t>번 예시 그래프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57508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latin typeface="한컴 윤고딕 240" pitchFamily="18" charset="-127"/>
                <a:ea typeface="한컴 윤고딕 240" pitchFamily="18" charset="-127"/>
              </a:rPr>
              <a:t>참고사이트</a:t>
            </a:r>
            <a:endParaRPr lang="ko-KR" altLang="en-US" sz="2800" dirty="0"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1340768"/>
            <a:ext cx="8280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 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  <a:hlinkClick r:id="rId2"/>
              </a:rPr>
              <a:t>http://www.ktword.co.kr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  <a:hlinkClick r:id="rId2"/>
              </a:rPr>
              <a:t>/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(</a:t>
            </a:r>
            <a:r>
              <a:rPr lang="ko-KR" altLang="en-US" sz="2000" dirty="0" smtClean="0">
                <a:latin typeface="한컴 윤고딕 230" pitchFamily="18" charset="-127"/>
                <a:ea typeface="한컴 윤고딕 230" pitchFamily="18" charset="-127"/>
              </a:rPr>
              <a:t>정보통신기술용어해설</a:t>
            </a:r>
            <a:r>
              <a:rPr lang="en-US" altLang="ko-KR" sz="2000" dirty="0" smtClean="0">
                <a:latin typeface="한컴 윤고딕 230" pitchFamily="18" charset="-127"/>
                <a:ea typeface="한컴 윤고딕 230" pitchFamily="18" charset="-127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오렌지">
  <a:themeElements>
    <a:clrScheme name="오렌지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오렌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오렌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994</TotalTime>
  <Words>370</Words>
  <Application>Microsoft Office PowerPoint</Application>
  <PresentationFormat>화면 슬라이드 쇼(4:3)</PresentationFormat>
  <Paragraphs>129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오렌지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김기연</dc:creator>
  <cp:lastModifiedBy>JungHyeok Choi</cp:lastModifiedBy>
  <cp:revision>33</cp:revision>
  <dcterms:created xsi:type="dcterms:W3CDTF">2016-06-04T11:24:26Z</dcterms:created>
  <dcterms:modified xsi:type="dcterms:W3CDTF">2016-06-06T01:05:42Z</dcterms:modified>
</cp:coreProperties>
</file>