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60" y="7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2016-05-31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2016-05-31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2016-05-31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2016-05-31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2016-05-31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2016-05-31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2016-05-31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ko-KR" altLang="en-US" sz="3200" dirty="0" smtClean="0"/>
              <a:t>대역확산 </a:t>
            </a:r>
            <a:r>
              <a:rPr lang="en-US" altLang="ko-KR" sz="3200" dirty="0" smtClean="0"/>
              <a:t>+</a:t>
            </a:r>
            <a:r>
              <a:rPr lang="ko-KR" altLang="en-US" sz="3200" dirty="0" smtClean="0"/>
              <a:t> </a:t>
            </a:r>
            <a:r>
              <a:rPr lang="en-US" altLang="ko-KR" sz="3200" dirty="0" smtClean="0"/>
              <a:t>OFDM</a:t>
            </a:r>
            <a:endParaRPr lang="ko-KR" altLang="en-US" sz="32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r>
              <a:rPr lang="ko-KR" altLang="en-US" sz="2000" dirty="0" smtClean="0"/>
              <a:t>블록도 </a:t>
            </a:r>
            <a:r>
              <a:rPr lang="en-US" altLang="ko-KR" sz="2000" dirty="0" smtClean="0"/>
              <a:t>– </a:t>
            </a:r>
            <a:r>
              <a:rPr lang="ko-KR" altLang="en-US" sz="2000" b="1" dirty="0" smtClean="0"/>
              <a:t>확산 이득 </a:t>
            </a:r>
            <a:r>
              <a:rPr lang="en-US" altLang="ko-KR" sz="2000" b="1" dirty="0" smtClean="0"/>
              <a:t>1</a:t>
            </a:r>
            <a:r>
              <a:rPr lang="ko-KR" altLang="en-US" sz="2000" b="1" dirty="0" smtClean="0"/>
              <a:t>일 </a:t>
            </a:r>
            <a:r>
              <a:rPr lang="ko-KR" altLang="en-US" sz="2000" b="1" dirty="0" smtClean="0"/>
              <a:t>때</a:t>
            </a:r>
            <a:endParaRPr lang="ko-KR" altLang="en-US" sz="2000" b="1" dirty="0"/>
          </a:p>
        </p:txBody>
      </p:sp>
      <p:sp>
        <p:nvSpPr>
          <p:cNvPr id="6" name="직사각형 5"/>
          <p:cNvSpPr/>
          <p:nvPr/>
        </p:nvSpPr>
        <p:spPr>
          <a:xfrm>
            <a:off x="755576" y="1844824"/>
            <a:ext cx="1080120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randint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512</a:t>
            </a:r>
            <a:r>
              <a:rPr lang="en-US" altLang="ko-KR" dirty="0" smtClean="0"/>
              <a:t> </a:t>
            </a:r>
            <a:r>
              <a:rPr lang="en-US" altLang="ko-KR" dirty="0" smtClean="0"/>
              <a:t>bits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133255" y="1844824"/>
            <a:ext cx="121379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QPSK</a:t>
            </a:r>
          </a:p>
          <a:p>
            <a:pPr algn="ctr"/>
            <a:r>
              <a:rPr lang="en-US" altLang="ko-KR" dirty="0" smtClean="0"/>
              <a:t>Mapper</a:t>
            </a:r>
          </a:p>
          <a:p>
            <a:pPr algn="ctr"/>
            <a:r>
              <a:rPr lang="en-US" altLang="ko-KR" dirty="0" smtClean="0"/>
              <a:t>256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635896" y="1844824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PN</a:t>
            </a:r>
          </a:p>
          <a:p>
            <a:pPr algn="ctr"/>
            <a:r>
              <a:rPr lang="en-US" altLang="ko-KR" dirty="0" smtClean="0"/>
              <a:t>Spreading</a:t>
            </a:r>
          </a:p>
          <a:p>
            <a:pPr algn="ctr"/>
            <a:r>
              <a:rPr lang="en-US" altLang="ko-KR" dirty="0" smtClean="0"/>
              <a:t>X </a:t>
            </a:r>
            <a:r>
              <a:rPr lang="en-US" altLang="ko-KR" dirty="0"/>
              <a:t>1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256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364088" y="1844824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256pt IFFT</a:t>
            </a:r>
          </a:p>
          <a:p>
            <a:pPr algn="ctr"/>
            <a:r>
              <a:rPr lang="en-US" altLang="ko-KR" dirty="0" smtClean="0"/>
              <a:t>256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092280" y="1844824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14 CP Add</a:t>
            </a:r>
          </a:p>
          <a:p>
            <a:pPr algn="ctr"/>
            <a:r>
              <a:rPr lang="en-US" altLang="ko-KR" dirty="0" smtClean="0"/>
              <a:t>270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cxnSp>
        <p:nvCxnSpPr>
          <p:cNvPr id="12" name="직선 화살표 연결선 11"/>
          <p:cNvCxnSpPr>
            <a:stCxn id="6" idx="3"/>
            <a:endCxn id="7" idx="1"/>
          </p:cNvCxnSpPr>
          <p:nvPr/>
        </p:nvCxnSpPr>
        <p:spPr>
          <a:xfrm>
            <a:off x="1835696" y="2420888"/>
            <a:ext cx="297559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3275856" y="2420888"/>
            <a:ext cx="3600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5004048" y="2425147"/>
            <a:ext cx="3600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6732240" y="2420888"/>
            <a:ext cx="3600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7092280" y="3356992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Channel</a:t>
            </a:r>
          </a:p>
          <a:p>
            <a:pPr algn="ctr"/>
            <a:r>
              <a:rPr lang="en-US" altLang="ko-KR" dirty="0" smtClean="0"/>
              <a:t>270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cxnSp>
        <p:nvCxnSpPr>
          <p:cNvPr id="18" name="직선 화살표 연결선 17"/>
          <p:cNvCxnSpPr>
            <a:endCxn id="17" idx="0"/>
          </p:cNvCxnSpPr>
          <p:nvPr/>
        </p:nvCxnSpPr>
        <p:spPr>
          <a:xfrm>
            <a:off x="7776356" y="2996952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7092280" y="4869160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14 CP </a:t>
            </a:r>
            <a:r>
              <a:rPr lang="ko-KR" altLang="en-US" dirty="0" smtClean="0"/>
              <a:t>제거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256 </a:t>
            </a:r>
            <a:r>
              <a:rPr lang="en-US" altLang="ko-KR" dirty="0" err="1" smtClean="0"/>
              <a:t>syms</a:t>
            </a:r>
            <a:endParaRPr lang="en-US" altLang="ko-KR" dirty="0" smtClean="0"/>
          </a:p>
        </p:txBody>
      </p:sp>
      <p:cxnSp>
        <p:nvCxnSpPr>
          <p:cNvPr id="22" name="직선 화살표 연결선 21"/>
          <p:cNvCxnSpPr>
            <a:endCxn id="21" idx="0"/>
          </p:cNvCxnSpPr>
          <p:nvPr/>
        </p:nvCxnSpPr>
        <p:spPr>
          <a:xfrm>
            <a:off x="7776356" y="4509120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755576" y="3573016"/>
            <a:ext cx="1080120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계</a:t>
            </a:r>
            <a:r>
              <a:rPr lang="ko-KR" altLang="en-US" dirty="0"/>
              <a:t>산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195736" y="4869160"/>
            <a:ext cx="1080120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QPSK</a:t>
            </a:r>
          </a:p>
          <a:p>
            <a:pPr algn="ctr"/>
            <a:r>
              <a:rPr lang="en-US" altLang="ko-KR" dirty="0" err="1" smtClean="0"/>
              <a:t>deMap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512 </a:t>
            </a:r>
            <a:r>
              <a:rPr lang="en-US" altLang="ko-KR" dirty="0" smtClean="0"/>
              <a:t>bits</a:t>
            </a:r>
            <a:endParaRPr lang="ko-KR" altLang="en-US" dirty="0"/>
          </a:p>
        </p:txBody>
      </p:sp>
      <p:sp>
        <p:nvSpPr>
          <p:cNvPr id="27" name="직사각형 26"/>
          <p:cNvSpPr/>
          <p:nvPr/>
        </p:nvSpPr>
        <p:spPr>
          <a:xfrm>
            <a:off x="3635896" y="4869160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PN</a:t>
            </a:r>
          </a:p>
          <a:p>
            <a:pPr algn="ctr"/>
            <a:r>
              <a:rPr lang="en-US" altLang="ko-KR" dirty="0" err="1" smtClean="0"/>
              <a:t>Despread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256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5364088" y="4869160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256pt FFT</a:t>
            </a:r>
          </a:p>
          <a:p>
            <a:pPr algn="ctr"/>
            <a:r>
              <a:rPr lang="en-US" altLang="ko-KR" dirty="0" smtClean="0"/>
              <a:t>&amp; EQ</a:t>
            </a:r>
          </a:p>
          <a:p>
            <a:pPr algn="ctr"/>
            <a:r>
              <a:rPr lang="en-US" altLang="ko-KR" dirty="0" smtClean="0"/>
              <a:t>256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3275856" y="5445224"/>
            <a:ext cx="360040" cy="0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5004048" y="5449483"/>
            <a:ext cx="360040" cy="0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21" idx="1"/>
            <a:endCxn id="28" idx="3"/>
          </p:cNvCxnSpPr>
          <p:nvPr/>
        </p:nvCxnSpPr>
        <p:spPr>
          <a:xfrm flipH="1">
            <a:off x="6732240" y="5445224"/>
            <a:ext cx="3600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stCxn id="26" idx="1"/>
            <a:endCxn id="25" idx="2"/>
          </p:cNvCxnSpPr>
          <p:nvPr/>
        </p:nvCxnSpPr>
        <p:spPr>
          <a:xfrm rot="10800000">
            <a:off x="1295636" y="4725144"/>
            <a:ext cx="900100" cy="720080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endCxn id="25" idx="0"/>
          </p:cNvCxnSpPr>
          <p:nvPr/>
        </p:nvCxnSpPr>
        <p:spPr>
          <a:xfrm rot="5400000">
            <a:off x="1013954" y="3284984"/>
            <a:ext cx="569714" cy="6350"/>
          </a:xfrm>
          <a:prstGeom prst="bentConnector3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052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ko-KR" altLang="en-US" sz="3200" dirty="0" smtClean="0"/>
              <a:t>대역확산 </a:t>
            </a:r>
            <a:r>
              <a:rPr lang="en-US" altLang="ko-KR" sz="3200" dirty="0" smtClean="0"/>
              <a:t>+</a:t>
            </a:r>
            <a:r>
              <a:rPr lang="ko-KR" altLang="en-US" sz="3200" dirty="0" smtClean="0"/>
              <a:t> </a:t>
            </a:r>
            <a:r>
              <a:rPr lang="en-US" altLang="ko-KR" sz="3200" dirty="0" smtClean="0"/>
              <a:t>OFDM</a:t>
            </a:r>
            <a:endParaRPr lang="ko-KR" altLang="en-US" sz="32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r>
              <a:rPr lang="ko-KR" altLang="en-US" sz="2000" dirty="0" smtClean="0"/>
              <a:t>블록도 </a:t>
            </a:r>
            <a:r>
              <a:rPr lang="en-US" altLang="ko-KR" sz="2000" dirty="0" smtClean="0"/>
              <a:t>– </a:t>
            </a:r>
            <a:r>
              <a:rPr lang="ko-KR" altLang="en-US" sz="2000" b="1" dirty="0" smtClean="0"/>
              <a:t>확산 이득 </a:t>
            </a:r>
            <a:r>
              <a:rPr lang="en-US" altLang="ko-KR" sz="2000" b="1" dirty="0"/>
              <a:t>4</a:t>
            </a:r>
            <a:r>
              <a:rPr lang="ko-KR" altLang="en-US" sz="2000" b="1" dirty="0" smtClean="0"/>
              <a:t>일 </a:t>
            </a:r>
            <a:r>
              <a:rPr lang="ko-KR" altLang="en-US" sz="2000" b="1" dirty="0" smtClean="0"/>
              <a:t>때</a:t>
            </a:r>
            <a:endParaRPr lang="ko-KR" altLang="en-US" sz="2000" b="1" dirty="0"/>
          </a:p>
        </p:txBody>
      </p:sp>
      <p:sp>
        <p:nvSpPr>
          <p:cNvPr id="6" name="직사각형 5"/>
          <p:cNvSpPr/>
          <p:nvPr/>
        </p:nvSpPr>
        <p:spPr>
          <a:xfrm>
            <a:off x="755576" y="1844824"/>
            <a:ext cx="1080120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randint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128</a:t>
            </a:r>
            <a:r>
              <a:rPr lang="en-US" altLang="ko-KR" dirty="0" smtClean="0"/>
              <a:t> </a:t>
            </a:r>
            <a:r>
              <a:rPr lang="en-US" altLang="ko-KR" dirty="0" smtClean="0"/>
              <a:t>bits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195736" y="1844824"/>
            <a:ext cx="1080120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QPSK</a:t>
            </a:r>
          </a:p>
          <a:p>
            <a:pPr algn="ctr"/>
            <a:r>
              <a:rPr lang="en-US" altLang="ko-KR" dirty="0" smtClean="0"/>
              <a:t>Mapper</a:t>
            </a:r>
          </a:p>
          <a:p>
            <a:pPr algn="ctr"/>
            <a:r>
              <a:rPr lang="en-US" altLang="ko-KR" dirty="0" smtClean="0"/>
              <a:t>64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635896" y="1844824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PN</a:t>
            </a:r>
          </a:p>
          <a:p>
            <a:pPr algn="ctr"/>
            <a:r>
              <a:rPr lang="en-US" altLang="ko-KR" dirty="0" smtClean="0"/>
              <a:t>Spreading</a:t>
            </a:r>
          </a:p>
          <a:p>
            <a:pPr algn="ctr"/>
            <a:r>
              <a:rPr lang="en-US" altLang="ko-KR" dirty="0" smtClean="0"/>
              <a:t>X </a:t>
            </a:r>
            <a:r>
              <a:rPr lang="en-US" altLang="ko-KR" dirty="0"/>
              <a:t>4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256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364088" y="1844824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256pt IFFT</a:t>
            </a:r>
          </a:p>
          <a:p>
            <a:pPr algn="ctr"/>
            <a:r>
              <a:rPr lang="en-US" altLang="ko-KR" dirty="0" smtClean="0"/>
              <a:t>256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092280" y="1844824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14 CP Add</a:t>
            </a:r>
          </a:p>
          <a:p>
            <a:pPr algn="ctr"/>
            <a:r>
              <a:rPr lang="en-US" altLang="ko-KR" dirty="0" smtClean="0"/>
              <a:t>270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cxnSp>
        <p:nvCxnSpPr>
          <p:cNvPr id="12" name="직선 화살표 연결선 11"/>
          <p:cNvCxnSpPr>
            <a:stCxn id="6" idx="3"/>
            <a:endCxn id="7" idx="1"/>
          </p:cNvCxnSpPr>
          <p:nvPr/>
        </p:nvCxnSpPr>
        <p:spPr>
          <a:xfrm>
            <a:off x="1835696" y="2420888"/>
            <a:ext cx="3600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3275856" y="2420888"/>
            <a:ext cx="3600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5004048" y="2425147"/>
            <a:ext cx="3600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6732240" y="2420888"/>
            <a:ext cx="3600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7092280" y="3356992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Channel</a:t>
            </a:r>
          </a:p>
          <a:p>
            <a:pPr algn="ctr"/>
            <a:r>
              <a:rPr lang="en-US" altLang="ko-KR" dirty="0" smtClean="0"/>
              <a:t>270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cxnSp>
        <p:nvCxnSpPr>
          <p:cNvPr id="18" name="직선 화살표 연결선 17"/>
          <p:cNvCxnSpPr>
            <a:endCxn id="17" idx="0"/>
          </p:cNvCxnSpPr>
          <p:nvPr/>
        </p:nvCxnSpPr>
        <p:spPr>
          <a:xfrm>
            <a:off x="7776356" y="2996952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7092280" y="4869160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14 CP </a:t>
            </a:r>
            <a:r>
              <a:rPr lang="ko-KR" altLang="en-US" dirty="0" smtClean="0"/>
              <a:t>제거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256 </a:t>
            </a:r>
            <a:r>
              <a:rPr lang="en-US" altLang="ko-KR" dirty="0" err="1" smtClean="0"/>
              <a:t>syms</a:t>
            </a:r>
            <a:endParaRPr lang="en-US" altLang="ko-KR" dirty="0" smtClean="0"/>
          </a:p>
        </p:txBody>
      </p:sp>
      <p:cxnSp>
        <p:nvCxnSpPr>
          <p:cNvPr id="22" name="직선 화살표 연결선 21"/>
          <p:cNvCxnSpPr>
            <a:endCxn id="21" idx="0"/>
          </p:cNvCxnSpPr>
          <p:nvPr/>
        </p:nvCxnSpPr>
        <p:spPr>
          <a:xfrm>
            <a:off x="7776356" y="4509120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755576" y="3573016"/>
            <a:ext cx="1080120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계</a:t>
            </a:r>
            <a:r>
              <a:rPr lang="ko-KR" altLang="en-US" dirty="0"/>
              <a:t>산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195736" y="4869160"/>
            <a:ext cx="1080120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QPSK</a:t>
            </a:r>
          </a:p>
          <a:p>
            <a:pPr algn="ctr"/>
            <a:r>
              <a:rPr lang="en-US" altLang="ko-KR" dirty="0" err="1" smtClean="0"/>
              <a:t>deMap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128</a:t>
            </a:r>
            <a:r>
              <a:rPr lang="en-US" altLang="ko-KR" dirty="0" smtClean="0"/>
              <a:t> </a:t>
            </a:r>
            <a:r>
              <a:rPr lang="en-US" altLang="ko-KR" dirty="0" smtClean="0"/>
              <a:t>bits</a:t>
            </a:r>
            <a:endParaRPr lang="ko-KR" altLang="en-US" dirty="0"/>
          </a:p>
        </p:txBody>
      </p:sp>
      <p:sp>
        <p:nvSpPr>
          <p:cNvPr id="27" name="직사각형 26"/>
          <p:cNvSpPr/>
          <p:nvPr/>
        </p:nvSpPr>
        <p:spPr>
          <a:xfrm>
            <a:off x="3635896" y="4869160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PN</a:t>
            </a:r>
          </a:p>
          <a:p>
            <a:pPr algn="ctr"/>
            <a:r>
              <a:rPr lang="en-US" altLang="ko-KR" dirty="0" err="1" smtClean="0"/>
              <a:t>Despread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64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5364088" y="4869160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256pt FFT</a:t>
            </a:r>
          </a:p>
          <a:p>
            <a:pPr algn="ctr"/>
            <a:r>
              <a:rPr lang="en-US" altLang="ko-KR" dirty="0" smtClean="0"/>
              <a:t>&amp; EQ</a:t>
            </a:r>
          </a:p>
          <a:p>
            <a:pPr algn="ctr"/>
            <a:r>
              <a:rPr lang="en-US" altLang="ko-KR" dirty="0" smtClean="0"/>
              <a:t>256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3275856" y="5445224"/>
            <a:ext cx="360040" cy="0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5004048" y="5449483"/>
            <a:ext cx="360040" cy="0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21" idx="1"/>
            <a:endCxn id="28" idx="3"/>
          </p:cNvCxnSpPr>
          <p:nvPr/>
        </p:nvCxnSpPr>
        <p:spPr>
          <a:xfrm flipH="1">
            <a:off x="6732240" y="5445224"/>
            <a:ext cx="3600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stCxn id="26" idx="1"/>
            <a:endCxn id="25" idx="2"/>
          </p:cNvCxnSpPr>
          <p:nvPr/>
        </p:nvCxnSpPr>
        <p:spPr>
          <a:xfrm rot="10800000">
            <a:off x="1295636" y="4725144"/>
            <a:ext cx="900100" cy="720080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endCxn id="25" idx="0"/>
          </p:cNvCxnSpPr>
          <p:nvPr/>
        </p:nvCxnSpPr>
        <p:spPr>
          <a:xfrm rot="5400000">
            <a:off x="1013954" y="3284984"/>
            <a:ext cx="569714" cy="6350"/>
          </a:xfrm>
          <a:prstGeom prst="bentConnector3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197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ko-KR" altLang="en-US" sz="3200" dirty="0" smtClean="0"/>
              <a:t>대역확산 </a:t>
            </a:r>
            <a:r>
              <a:rPr lang="en-US" altLang="ko-KR" sz="3200" dirty="0" smtClean="0"/>
              <a:t>+</a:t>
            </a:r>
            <a:r>
              <a:rPr lang="ko-KR" altLang="en-US" sz="3200" dirty="0" smtClean="0"/>
              <a:t> </a:t>
            </a:r>
            <a:r>
              <a:rPr lang="en-US" altLang="ko-KR" sz="3200" dirty="0" smtClean="0"/>
              <a:t>OFDM</a:t>
            </a:r>
            <a:endParaRPr lang="ko-KR" altLang="en-US" sz="32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r>
              <a:rPr lang="ko-KR" altLang="en-US" sz="2000" dirty="0" smtClean="0"/>
              <a:t>블록도 </a:t>
            </a:r>
            <a:r>
              <a:rPr lang="en-US" altLang="ko-KR" sz="2000" dirty="0" smtClean="0"/>
              <a:t>– </a:t>
            </a:r>
            <a:r>
              <a:rPr lang="ko-KR" altLang="en-US" sz="2000" b="1" dirty="0" smtClean="0"/>
              <a:t>확산 이득 </a:t>
            </a:r>
            <a:r>
              <a:rPr lang="en-US" altLang="ko-KR" sz="2000" b="1" dirty="0" smtClean="0"/>
              <a:t>16</a:t>
            </a:r>
            <a:r>
              <a:rPr lang="ko-KR" altLang="en-US" sz="2000" b="1" dirty="0" smtClean="0"/>
              <a:t>일 때</a:t>
            </a:r>
            <a:endParaRPr lang="ko-KR" altLang="en-US" sz="2000" b="1" dirty="0"/>
          </a:p>
        </p:txBody>
      </p:sp>
      <p:sp>
        <p:nvSpPr>
          <p:cNvPr id="6" name="직사각형 5"/>
          <p:cNvSpPr/>
          <p:nvPr/>
        </p:nvSpPr>
        <p:spPr>
          <a:xfrm>
            <a:off x="755576" y="1844824"/>
            <a:ext cx="1080120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randint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32 bits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195736" y="1844824"/>
            <a:ext cx="1080120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QPSK</a:t>
            </a:r>
          </a:p>
          <a:p>
            <a:pPr algn="ctr"/>
            <a:r>
              <a:rPr lang="en-US" altLang="ko-KR" dirty="0" smtClean="0"/>
              <a:t>Mapper</a:t>
            </a:r>
          </a:p>
          <a:p>
            <a:pPr algn="ctr"/>
            <a:r>
              <a:rPr lang="en-US" altLang="ko-KR" dirty="0" smtClean="0"/>
              <a:t>16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635896" y="1844824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PN</a:t>
            </a:r>
          </a:p>
          <a:p>
            <a:pPr algn="ctr"/>
            <a:r>
              <a:rPr lang="en-US" altLang="ko-KR" dirty="0" smtClean="0"/>
              <a:t>Spreading</a:t>
            </a:r>
          </a:p>
          <a:p>
            <a:pPr algn="ctr"/>
            <a:r>
              <a:rPr lang="en-US" altLang="ko-KR" dirty="0" smtClean="0"/>
              <a:t>X 16</a:t>
            </a:r>
          </a:p>
          <a:p>
            <a:pPr algn="ctr"/>
            <a:r>
              <a:rPr lang="en-US" altLang="ko-KR" dirty="0" smtClean="0"/>
              <a:t>256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364088" y="1844824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256pt IFFT</a:t>
            </a:r>
          </a:p>
          <a:p>
            <a:pPr algn="ctr"/>
            <a:r>
              <a:rPr lang="en-US" altLang="ko-KR" dirty="0" smtClean="0"/>
              <a:t>256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092280" y="1844824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14 CP Add</a:t>
            </a:r>
          </a:p>
          <a:p>
            <a:pPr algn="ctr"/>
            <a:r>
              <a:rPr lang="en-US" altLang="ko-KR" dirty="0" smtClean="0"/>
              <a:t>270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cxnSp>
        <p:nvCxnSpPr>
          <p:cNvPr id="12" name="직선 화살표 연결선 11"/>
          <p:cNvCxnSpPr>
            <a:stCxn id="6" idx="3"/>
            <a:endCxn id="7" idx="1"/>
          </p:cNvCxnSpPr>
          <p:nvPr/>
        </p:nvCxnSpPr>
        <p:spPr>
          <a:xfrm>
            <a:off x="1835696" y="2420888"/>
            <a:ext cx="3600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3275856" y="2420888"/>
            <a:ext cx="3600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5004048" y="2425147"/>
            <a:ext cx="3600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6732240" y="2420888"/>
            <a:ext cx="3600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7092280" y="3356992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Channel</a:t>
            </a:r>
          </a:p>
          <a:p>
            <a:pPr algn="ctr"/>
            <a:r>
              <a:rPr lang="en-US" altLang="ko-KR" dirty="0" smtClean="0"/>
              <a:t>270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cxnSp>
        <p:nvCxnSpPr>
          <p:cNvPr id="18" name="직선 화살표 연결선 17"/>
          <p:cNvCxnSpPr>
            <a:endCxn id="17" idx="0"/>
          </p:cNvCxnSpPr>
          <p:nvPr/>
        </p:nvCxnSpPr>
        <p:spPr>
          <a:xfrm>
            <a:off x="7776356" y="2996952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7092280" y="4869160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14 CP </a:t>
            </a:r>
            <a:r>
              <a:rPr lang="ko-KR" altLang="en-US" dirty="0" smtClean="0"/>
              <a:t>제거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256 </a:t>
            </a:r>
            <a:r>
              <a:rPr lang="en-US" altLang="ko-KR" dirty="0" err="1" smtClean="0"/>
              <a:t>syms</a:t>
            </a:r>
            <a:endParaRPr lang="en-US" altLang="ko-KR" dirty="0" smtClean="0"/>
          </a:p>
        </p:txBody>
      </p:sp>
      <p:cxnSp>
        <p:nvCxnSpPr>
          <p:cNvPr id="22" name="직선 화살표 연결선 21"/>
          <p:cNvCxnSpPr>
            <a:endCxn id="21" idx="0"/>
          </p:cNvCxnSpPr>
          <p:nvPr/>
        </p:nvCxnSpPr>
        <p:spPr>
          <a:xfrm>
            <a:off x="7776356" y="4509120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755576" y="3573016"/>
            <a:ext cx="1080120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계</a:t>
            </a:r>
            <a:r>
              <a:rPr lang="ko-KR" altLang="en-US" dirty="0"/>
              <a:t>산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195736" y="4869160"/>
            <a:ext cx="1080120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QPSK</a:t>
            </a:r>
          </a:p>
          <a:p>
            <a:pPr algn="ctr"/>
            <a:r>
              <a:rPr lang="en-US" altLang="ko-KR" dirty="0" err="1" smtClean="0"/>
              <a:t>deMap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32 bits</a:t>
            </a:r>
            <a:endParaRPr lang="ko-KR" altLang="en-US" dirty="0"/>
          </a:p>
        </p:txBody>
      </p:sp>
      <p:sp>
        <p:nvSpPr>
          <p:cNvPr id="27" name="직사각형 26"/>
          <p:cNvSpPr/>
          <p:nvPr/>
        </p:nvSpPr>
        <p:spPr>
          <a:xfrm>
            <a:off x="3635896" y="4869160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PN</a:t>
            </a:r>
          </a:p>
          <a:p>
            <a:pPr algn="ctr"/>
            <a:r>
              <a:rPr lang="en-US" altLang="ko-KR" dirty="0" err="1" smtClean="0"/>
              <a:t>Despread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16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5364088" y="4869160"/>
            <a:ext cx="1368152" cy="11521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256pt FFT</a:t>
            </a:r>
          </a:p>
          <a:p>
            <a:pPr algn="ctr"/>
            <a:r>
              <a:rPr lang="en-US" altLang="ko-KR" dirty="0" smtClean="0"/>
              <a:t>&amp; EQ</a:t>
            </a:r>
          </a:p>
          <a:p>
            <a:pPr algn="ctr"/>
            <a:r>
              <a:rPr lang="en-US" altLang="ko-KR" dirty="0" smtClean="0"/>
              <a:t>256 </a:t>
            </a:r>
            <a:r>
              <a:rPr lang="en-US" altLang="ko-KR" dirty="0" err="1" smtClean="0"/>
              <a:t>syms</a:t>
            </a:r>
            <a:endParaRPr lang="ko-KR" altLang="en-US" dirty="0"/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3275856" y="5445224"/>
            <a:ext cx="360040" cy="0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5004048" y="5449483"/>
            <a:ext cx="360040" cy="0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21" idx="1"/>
            <a:endCxn id="28" idx="3"/>
          </p:cNvCxnSpPr>
          <p:nvPr/>
        </p:nvCxnSpPr>
        <p:spPr>
          <a:xfrm flipH="1">
            <a:off x="6732240" y="5445224"/>
            <a:ext cx="3600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stCxn id="26" idx="1"/>
            <a:endCxn id="25" idx="2"/>
          </p:cNvCxnSpPr>
          <p:nvPr/>
        </p:nvCxnSpPr>
        <p:spPr>
          <a:xfrm rot="10800000">
            <a:off x="1295636" y="4725144"/>
            <a:ext cx="900100" cy="720080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endCxn id="25" idx="0"/>
          </p:cNvCxnSpPr>
          <p:nvPr/>
        </p:nvCxnSpPr>
        <p:spPr>
          <a:xfrm rot="5400000">
            <a:off x="1013954" y="3284984"/>
            <a:ext cx="569714" cy="6350"/>
          </a:xfrm>
          <a:prstGeom prst="bentConnector3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572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BER</a:t>
            </a:r>
            <a:r>
              <a:rPr lang="ko-KR" altLang="en-US" dirty="0" smtClean="0"/>
              <a:t> </a:t>
            </a:r>
            <a:r>
              <a:rPr lang="en-US" altLang="ko-KR" dirty="0" smtClean="0"/>
              <a:t>simulation </a:t>
            </a:r>
            <a:r>
              <a:rPr lang="ko-KR" altLang="en-US" dirty="0" smtClean="0"/>
              <a:t>시 참고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매 </a:t>
            </a:r>
            <a:r>
              <a:rPr lang="en-US" altLang="ko-KR" dirty="0" smtClean="0"/>
              <a:t>SNR </a:t>
            </a:r>
            <a:r>
              <a:rPr lang="ko-KR" altLang="en-US" dirty="0" smtClean="0"/>
              <a:t>마다 </a:t>
            </a:r>
            <a:r>
              <a:rPr lang="en-US" altLang="ko-KR" dirty="0" smtClean="0"/>
              <a:t>100,000</a:t>
            </a:r>
            <a:r>
              <a:rPr lang="ko-KR" altLang="en-US" dirty="0" smtClean="0"/>
              <a:t>번 채널을 </a:t>
            </a:r>
            <a:r>
              <a:rPr lang="en-US" altLang="ko-KR" dirty="0" smtClean="0"/>
              <a:t>random </a:t>
            </a:r>
            <a:r>
              <a:rPr lang="ko-KR" altLang="en-US" dirty="0" smtClean="0"/>
              <a:t>하게 생성하여 </a:t>
            </a:r>
            <a:r>
              <a:rPr lang="en-US" altLang="ko-KR" dirty="0" smtClean="0"/>
              <a:t>BER </a:t>
            </a:r>
            <a:r>
              <a:rPr lang="ko-KR" altLang="en-US" dirty="0" smtClean="0"/>
              <a:t>계산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37765" y="2708920"/>
            <a:ext cx="729398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err_count</a:t>
            </a:r>
            <a:r>
              <a:rPr lang="en-US" altLang="ko-KR" dirty="0" smtClean="0"/>
              <a:t> = 0;</a:t>
            </a:r>
          </a:p>
          <a:p>
            <a:r>
              <a:rPr lang="en-US" altLang="ko-KR" dirty="0" smtClean="0">
                <a:solidFill>
                  <a:srgbClr val="0000FF"/>
                </a:solidFill>
              </a:rPr>
              <a:t>for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iter</a:t>
            </a:r>
            <a:r>
              <a:rPr lang="en-US" altLang="ko-KR" dirty="0" smtClean="0"/>
              <a:t> = 1: 100000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…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	</a:t>
            </a:r>
            <a:r>
              <a:rPr lang="en-US" altLang="ko-KR" b="1" dirty="0" smtClean="0">
                <a:solidFill>
                  <a:srgbClr val="FF0000"/>
                </a:solidFill>
              </a:rPr>
              <a:t>h = [0.73 0.52 0.37 0.22].*(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randn</a:t>
            </a:r>
            <a:r>
              <a:rPr lang="en-US" altLang="ko-KR" b="1" dirty="0" smtClean="0">
                <a:solidFill>
                  <a:srgbClr val="FF0000"/>
                </a:solidFill>
              </a:rPr>
              <a:t>(1,4) + 1j*</a:t>
            </a:r>
            <a:r>
              <a:rPr lang="en-US" altLang="ko-KR" b="1" dirty="0" err="1" smtClean="0">
                <a:solidFill>
                  <a:srgbClr val="FF0000"/>
                </a:solidFill>
              </a:rPr>
              <a:t>randn</a:t>
            </a:r>
            <a:r>
              <a:rPr lang="en-US" altLang="ko-KR" b="1" dirty="0" smtClean="0">
                <a:solidFill>
                  <a:srgbClr val="FF0000"/>
                </a:solidFill>
              </a:rPr>
              <a:t>(1,4) );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en-US" altLang="ko-KR" dirty="0" smtClean="0"/>
              <a:t>…</a:t>
            </a:r>
          </a:p>
          <a:p>
            <a:r>
              <a:rPr lang="en-US" altLang="ko-KR" dirty="0"/>
              <a:t>	</a:t>
            </a:r>
            <a:r>
              <a:rPr lang="en-US" altLang="ko-KR" dirty="0" err="1" smtClean="0"/>
              <a:t>err_count</a:t>
            </a:r>
            <a:r>
              <a:rPr lang="en-US" altLang="ko-KR" dirty="0" smtClean="0"/>
              <a:t> = </a:t>
            </a:r>
            <a:r>
              <a:rPr lang="en-US" altLang="ko-KR" dirty="0" err="1" smtClean="0"/>
              <a:t>err_count</a:t>
            </a:r>
            <a:r>
              <a:rPr lang="en-US" altLang="ko-KR" dirty="0" smtClean="0"/>
              <a:t> + </a:t>
            </a:r>
            <a:r>
              <a:rPr lang="en-US" altLang="ko-KR" dirty="0" err="1" smtClean="0"/>
              <a:t>current_err_count</a:t>
            </a:r>
            <a:r>
              <a:rPr lang="en-US" altLang="ko-KR" dirty="0" smtClean="0"/>
              <a:t>;</a:t>
            </a:r>
            <a:endParaRPr lang="en-US" altLang="ko-KR" dirty="0"/>
          </a:p>
          <a:p>
            <a:r>
              <a:rPr lang="en-US" altLang="ko-KR" dirty="0" smtClean="0">
                <a:solidFill>
                  <a:srgbClr val="0000FF"/>
                </a:solidFill>
              </a:rPr>
              <a:t>end</a:t>
            </a:r>
          </a:p>
          <a:p>
            <a:r>
              <a:rPr lang="en-US" altLang="ko-KR" dirty="0" err="1" smtClean="0"/>
              <a:t>ber</a:t>
            </a:r>
            <a:r>
              <a:rPr lang="en-US" altLang="ko-KR" dirty="0" smtClean="0"/>
              <a:t> = </a:t>
            </a:r>
            <a:r>
              <a:rPr lang="en-US" altLang="ko-KR" dirty="0" err="1" smtClean="0"/>
              <a:t>err_count</a:t>
            </a:r>
            <a:r>
              <a:rPr lang="en-US" altLang="ko-KR" dirty="0" smtClean="0"/>
              <a:t> / 100000 / 32;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7183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실습과제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확산 이득 </a:t>
            </a:r>
            <a:r>
              <a:rPr lang="en-US" altLang="ko-KR" dirty="0" smtClean="0"/>
              <a:t>1, 4, 16</a:t>
            </a:r>
            <a:r>
              <a:rPr lang="ko-KR" altLang="en-US" dirty="0" smtClean="0"/>
              <a:t>에 대해서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확산이득에 맞게 각 블록도 그리기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BER simulation </a:t>
            </a:r>
            <a:r>
              <a:rPr lang="ko-KR" altLang="en-US" dirty="0" smtClean="0"/>
              <a:t>수행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공식대로의 확산이득이 얻어지는 지 확인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예상과 다르다면 그 이유는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5151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219</Words>
  <Application>Microsoft Office PowerPoint</Application>
  <PresentationFormat>화면 슬라이드 쇼(4:3)</PresentationFormat>
  <Paragraphs>106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대역확산 + OFDM</vt:lpstr>
      <vt:lpstr>대역확산 + OFDM</vt:lpstr>
      <vt:lpstr>대역확산 + OFDM</vt:lpstr>
      <vt:lpstr>BER simulation 시 참고</vt:lpstr>
      <vt:lpstr>실습과제</vt:lpstr>
    </vt:vector>
  </TitlesOfParts>
  <Company>R&amp;D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대역확산 OFDM 시스템 블록도</dc:title>
  <dc:creator>Microsoft Corporation</dc:creator>
  <cp:lastModifiedBy>com518</cp:lastModifiedBy>
  <cp:revision>13</cp:revision>
  <dcterms:created xsi:type="dcterms:W3CDTF">2006-10-05T04:04:58Z</dcterms:created>
  <dcterms:modified xsi:type="dcterms:W3CDTF">2016-05-31T03:50:12Z</dcterms:modified>
</cp:coreProperties>
</file>