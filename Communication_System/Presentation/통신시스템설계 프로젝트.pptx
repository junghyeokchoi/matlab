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7"/>
  </p:notesMasterIdLst>
  <p:sldIdLst>
    <p:sldId id="301" r:id="rId3"/>
    <p:sldId id="324" r:id="rId4"/>
    <p:sldId id="302" r:id="rId5"/>
    <p:sldId id="325" r:id="rId6"/>
    <p:sldId id="326" r:id="rId7"/>
    <p:sldId id="330" r:id="rId8"/>
    <p:sldId id="323" r:id="rId9"/>
    <p:sldId id="321" r:id="rId10"/>
    <p:sldId id="322" r:id="rId11"/>
    <p:sldId id="314" r:id="rId12"/>
    <p:sldId id="332" r:id="rId13"/>
    <p:sldId id="327" r:id="rId14"/>
    <p:sldId id="334" r:id="rId15"/>
    <p:sldId id="318" r:id="rId16"/>
  </p:sldIdLst>
  <p:sldSz cx="9144000" cy="5715000" type="screen16x1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함초롬바탕" panose="02030604000101010101" pitchFamily="18" charset="-127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배달의민족 도현" panose="020B0600000101010101" pitchFamily="50" charset="-127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1840" autoAdjust="0"/>
  </p:normalViewPr>
  <p:slideViewPr>
    <p:cSldViewPr>
      <p:cViewPr>
        <p:scale>
          <a:sx n="100" d="100"/>
          <a:sy n="100" d="100"/>
        </p:scale>
        <p:origin x="1410" y="51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259F2-119D-4FF0-A9C7-85BA9765B173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5C14C-A824-44E7-AEBA-6CB8D3B2BF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38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73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99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703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17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6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268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67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16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1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16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5C14C-A824-44E7-AEBA-6CB8D3B2BF55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40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2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6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25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01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92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42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56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4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2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69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241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E513-83F3-4726-AC02-5821E56BFACE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173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5EEC1-B25D-4F5A-8B47-D9E02237535B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573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2B82-8CC1-4560-89B0-F1197986519A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88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DE9A7-AF73-4C52-BCD7-0CA92656ED75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284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4364-AE38-4B01-932E-F447823AB3F2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675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70C1-794E-4A87-A8E4-AB6E6AA902B9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819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4A6A-0F58-4F6D-ABAB-55A84409C114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620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D8AB4-45A6-49C4-BD95-B69D5D327D23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46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63C6-661F-4796-BF85-E0C4EB5163C4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1905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E2E8-5143-46A2-A6E4-9896331CC600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535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F34-C115-41AE-A53F-D7D7EDEAC5D5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36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59D7B-1714-4FD1-91B0-38AED3CC2689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E88C7-5CE8-4B29-B45E-39BB8A5345F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3BA4F-473A-4A2E-92C2-2C0198CF5A8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2016-06-05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20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gif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gif"/><Relationship Id="rId10" Type="http://schemas.openxmlformats.org/officeDocument/2006/relationships/image" Target="../media/image6.JP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1129870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Single user CDMA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8144" y="4224175"/>
            <a:ext cx="4067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담당교수 </a:t>
            </a:r>
            <a:r>
              <a:rPr lang="en-US" altLang="ko-KR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dirty="0" err="1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정의림</a:t>
            </a:r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교수님</a:t>
            </a:r>
            <a:endParaRPr lang="en-US" altLang="ko-KR" dirty="0" smtClean="0">
              <a:solidFill>
                <a:schemeClr val="bg1">
                  <a:lumMod val="8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학과 </a:t>
            </a:r>
            <a:r>
              <a:rPr lang="en-US" altLang="ko-KR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정보통신공학과</a:t>
            </a:r>
            <a:endParaRPr lang="en-US" altLang="ko-KR" dirty="0" smtClean="0">
              <a:solidFill>
                <a:schemeClr val="bg1">
                  <a:lumMod val="8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팀원 </a:t>
            </a:r>
            <a:r>
              <a:rPr lang="en-US" altLang="ko-KR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최정혁</a:t>
            </a:r>
            <a:r>
              <a:rPr lang="en-US" altLang="ko-KR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김지훈</a:t>
            </a:r>
            <a:endParaRPr lang="en-US" altLang="ko-KR" dirty="0" smtClean="0">
              <a:solidFill>
                <a:schemeClr val="bg1">
                  <a:lumMod val="8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4214" y="20943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2016 </a:t>
            </a:r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통신시스템 설계 프로젝트</a:t>
            </a:r>
            <a:endParaRPr lang="en-US" altLang="ko-KR" dirty="0" smtClean="0">
              <a:solidFill>
                <a:schemeClr val="bg1">
                  <a:lumMod val="8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001516"/>
            <a:ext cx="2169138" cy="2169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5490" y="2330199"/>
            <a:ext cx="836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 GPS </a:t>
            </a:r>
            <a:r>
              <a:rPr lang="ko-KR" altLang="en-US" sz="24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위성 통신 표준으로 사용되는 시스템 설계 및 비교 </a:t>
            </a:r>
            <a:endParaRPr lang="ko-KR" altLang="en-US" sz="24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9" name="Picture 2" descr="C:\Users\Administrator\Desktop\aa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5220072" y="625252"/>
            <a:ext cx="0" cy="48314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36096" y="112930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프로젝트 목표 및 설계사양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5148064" y="1201316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5220072" y="1438251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5148064" y="1777380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79" name="직선 연결선 78"/>
          <p:cNvCxnSpPr/>
          <p:nvPr/>
        </p:nvCxnSpPr>
        <p:spPr>
          <a:xfrm>
            <a:off x="5220072" y="2014315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5148064" y="2353444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81" name="직선 연결선 80"/>
          <p:cNvCxnSpPr/>
          <p:nvPr/>
        </p:nvCxnSpPr>
        <p:spPr>
          <a:xfrm>
            <a:off x="5220072" y="2590379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/>
          <p:cNvSpPr/>
          <p:nvPr/>
        </p:nvSpPr>
        <p:spPr>
          <a:xfrm>
            <a:off x="5148064" y="2929508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5220072" y="3166443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5148064" y="3505572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85" name="직선 연결선 84"/>
          <p:cNvCxnSpPr/>
          <p:nvPr/>
        </p:nvCxnSpPr>
        <p:spPr>
          <a:xfrm>
            <a:off x="5220072" y="3742507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타원 85"/>
          <p:cNvSpPr/>
          <p:nvPr/>
        </p:nvSpPr>
        <p:spPr>
          <a:xfrm>
            <a:off x="5148064" y="4081636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5220072" y="4318571"/>
            <a:ext cx="0" cy="26712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>
            <a:off x="5148064" y="4657700"/>
            <a:ext cx="144016" cy="1440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36095" y="1680322"/>
            <a:ext cx="33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Mapping/</a:t>
            </a:r>
            <a:r>
              <a:rPr lang="en-US" altLang="ko-KR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Demapping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436096" y="2242426"/>
            <a:ext cx="1879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Block Diagram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423872" y="2848208"/>
            <a:ext cx="1404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그래프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409130" y="3433564"/>
            <a:ext cx="2028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프로젝트 진행일정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36095" y="4579345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참고 자료 출처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436095" y="3994572"/>
            <a:ext cx="11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역할 분담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11960" y="534080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목</a:t>
            </a:r>
            <a:r>
              <a:rPr lang="ko-KR" altLang="en-US" sz="2800" b="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829421"/>
            <a:ext cx="4074272" cy="4074272"/>
          </a:xfrm>
          <a:prstGeom prst="rect">
            <a:avLst/>
          </a:prstGeom>
        </p:spPr>
      </p:pic>
      <p:pic>
        <p:nvPicPr>
          <p:cNvPr id="25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267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715705" y="927219"/>
            <a:ext cx="7672719" cy="4306545"/>
            <a:chOff x="467544" y="822112"/>
            <a:chExt cx="7672719" cy="4306545"/>
          </a:xfrm>
        </p:grpSpPr>
        <p:sp>
          <p:nvSpPr>
            <p:cNvPr id="3" name="TextBox 2"/>
            <p:cNvSpPr txBox="1"/>
            <p:nvPr/>
          </p:nvSpPr>
          <p:spPr>
            <a:xfrm>
              <a:off x="467544" y="822112"/>
              <a:ext cx="31726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 smtClean="0">
                  <a:solidFill>
                    <a:schemeClr val="bg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프로젝트 설계 사양</a:t>
              </a:r>
              <a:endPara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908629" y="1561356"/>
              <a:ext cx="6975739" cy="1438855"/>
              <a:chOff x="1163756" y="2042109"/>
              <a:chExt cx="6975739" cy="143885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390681" y="2042109"/>
                <a:ext cx="6748814" cy="1438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변조방식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: QPSK, </a:t>
                </a:r>
                <a:r>
                  <a:rPr lang="en-US" altLang="ko-KR" sz="2000" u="sng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8PSK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, 16QAM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채널코드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: </a:t>
                </a:r>
                <a:r>
                  <a:rPr lang="ko-KR" altLang="en-US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없음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/ </a:t>
                </a:r>
                <a:r>
                  <a:rPr lang="ko-KR" altLang="en-US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확산코드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: PN Code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채널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: AWGN</a:t>
                </a:r>
              </a:p>
            </p:txBody>
          </p:sp>
          <p:sp>
            <p:nvSpPr>
              <p:cNvPr id="27" name="타원 26"/>
              <p:cNvSpPr/>
              <p:nvPr/>
            </p:nvSpPr>
            <p:spPr>
              <a:xfrm>
                <a:off x="1174164" y="2243435"/>
                <a:ext cx="144016" cy="12695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1163756" y="2718421"/>
                <a:ext cx="144016" cy="12695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>
              <a:xfrm>
                <a:off x="1174164" y="3163098"/>
                <a:ext cx="144016" cy="126958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516715" y="3558416"/>
              <a:ext cx="29031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dirty="0" smtClean="0">
                  <a:solidFill>
                    <a:schemeClr val="bg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프로젝트 목표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1115616" y="4297660"/>
                  <a:ext cx="702464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2400" dirty="0">
                      <a:solidFill>
                        <a:schemeClr val="bg1"/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수신 </a:t>
                  </a:r>
                  <a:r>
                    <a:rPr lang="en-US" altLang="ko-KR" sz="2400" dirty="0">
                      <a:solidFill>
                        <a:schemeClr val="bg1"/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SNR = </a:t>
                  </a:r>
                  <a:r>
                    <a:rPr lang="ko-KR" altLang="en-US" sz="2400" dirty="0">
                      <a:solidFill>
                        <a:schemeClr val="bg1"/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약 </a:t>
                  </a:r>
                  <a14:m>
                    <m:oMath xmlns:m="http://schemas.openxmlformats.org/officeDocument/2006/math">
                      <m:r>
                        <a:rPr lang="en-US" altLang="ko-KR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배달의민족 도현" panose="020B0600000101010101" pitchFamily="50" charset="-127"/>
                        </a:rPr>
                        <m:t>−20</m:t>
                      </m:r>
                      <m:r>
                        <a:rPr lang="en-US" altLang="ko-KR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배달의민족 도현" panose="020B0600000101010101" pitchFamily="50" charset="-127"/>
                        </a:rPr>
                        <m:t>𝑑𝐵</m:t>
                      </m:r>
                      <m:r>
                        <a:rPr lang="en-US" altLang="ko-KR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배달의민족 도현" panose="020B0600000101010101" pitchFamily="50" charset="-127"/>
                        </a:rPr>
                        <m:t> </m:t>
                      </m:r>
                    </m:oMath>
                  </a14:m>
                  <a:r>
                    <a:rPr lang="en-US" altLang="ko-KR" sz="2400" dirty="0">
                      <a:solidFill>
                        <a:schemeClr val="bg1"/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BER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배달의민족 도현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배달의민족 도현" panose="020B0600000101010101" pitchFamily="50" charset="-127"/>
                            </a:rPr>
                            <m:t>10</m:t>
                          </m:r>
                        </m:e>
                        <m:sup>
                          <m:r>
                            <a:rPr lang="en-US" altLang="ko-K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배달의민족 도현" panose="020B0600000101010101" pitchFamily="50" charset="-127"/>
                            </a:rPr>
                            <m:t>−3</m:t>
                          </m:r>
                        </m:sup>
                      </m:sSup>
                      <m:r>
                        <a:rPr lang="ko-KR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배달의민족 도현" panose="020B0600000101010101" pitchFamily="50" charset="-127"/>
                        </a:rPr>
                        <m:t>이</m:t>
                      </m:r>
                    </m:oMath>
                  </a14:m>
                  <a:r>
                    <a:rPr lang="ko-KR" altLang="en-US" sz="2400" dirty="0">
                      <a:solidFill>
                        <a:schemeClr val="bg1"/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하로 통신을 하기 위해 필요한 확산 이득을 구하기</a:t>
                  </a:r>
                  <a:endParaRPr lang="en-US" altLang="ko-KR" sz="3200" dirty="0">
                    <a:solidFill>
                      <a:schemeClr val="bg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616" y="4297660"/>
                  <a:ext cx="7024647" cy="83099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389" t="-3650" b="-1532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타원 35"/>
            <p:cNvSpPr/>
            <p:nvPr/>
          </p:nvSpPr>
          <p:spPr>
            <a:xfrm>
              <a:off x="911315" y="4441676"/>
              <a:ext cx="144016" cy="126958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37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sp>
        <p:nvSpPr>
          <p:cNvPr id="38" name="직사각형 37"/>
          <p:cNvSpPr/>
          <p:nvPr/>
        </p:nvSpPr>
        <p:spPr>
          <a:xfrm>
            <a:off x="5809331" y="121196"/>
            <a:ext cx="322716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2000" b="1" cap="all" dirty="0" smtClean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프로젝트 설계 사양 및 목표</a:t>
            </a:r>
            <a:endParaRPr lang="en-US" altLang="ko-KR" sz="2000" b="1" cap="all" spc="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92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955477" y="91579"/>
            <a:ext cx="208101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mapping</a:t>
            </a:r>
            <a:endParaRPr lang="en-US" altLang="ko-KR" sz="2000" cap="all" spc="0" dirty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26" y="1561356"/>
            <a:ext cx="3755218" cy="352839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727544"/>
            <a:ext cx="4201080" cy="48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1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682840" y="81126"/>
            <a:ext cx="242566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</a:t>
            </a:r>
            <a:r>
              <a:rPr lang="en-US" altLang="ko-KR" sz="2000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Demapping</a:t>
            </a:r>
            <a:endParaRPr lang="en-US" altLang="ko-KR" sz="2000" cap="all" spc="0" dirty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cxnSp>
        <p:nvCxnSpPr>
          <p:cNvPr id="42" name="직선 연결선 41"/>
          <p:cNvCxnSpPr/>
          <p:nvPr/>
        </p:nvCxnSpPr>
        <p:spPr>
          <a:xfrm>
            <a:off x="5004048" y="29788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/>
          <p:cNvGrpSpPr/>
          <p:nvPr/>
        </p:nvGrpSpPr>
        <p:grpSpPr>
          <a:xfrm>
            <a:off x="179512" y="1478092"/>
            <a:ext cx="3933808" cy="3611656"/>
            <a:chOff x="2339752" y="850567"/>
            <a:chExt cx="4717082" cy="4369486"/>
          </a:xfrm>
        </p:grpSpPr>
        <p:grpSp>
          <p:nvGrpSpPr>
            <p:cNvPr id="40" name="그룹 39"/>
            <p:cNvGrpSpPr/>
            <p:nvPr/>
          </p:nvGrpSpPr>
          <p:grpSpPr>
            <a:xfrm>
              <a:off x="2339752" y="850567"/>
              <a:ext cx="4717082" cy="4369486"/>
              <a:chOff x="2159174" y="849121"/>
              <a:chExt cx="4717082" cy="4369486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5873" y="849121"/>
                <a:ext cx="4650383" cy="4369486"/>
              </a:xfrm>
              <a:prstGeom prst="rect">
                <a:avLst/>
              </a:prstGeom>
            </p:spPr>
          </p:pic>
          <p:grpSp>
            <p:nvGrpSpPr>
              <p:cNvPr id="39" name="그룹 38"/>
              <p:cNvGrpSpPr/>
              <p:nvPr/>
            </p:nvGrpSpPr>
            <p:grpSpPr>
              <a:xfrm>
                <a:off x="2159174" y="913284"/>
                <a:ext cx="4717082" cy="4131175"/>
                <a:chOff x="2159174" y="913284"/>
                <a:chExt cx="4717082" cy="4131175"/>
              </a:xfrm>
            </p:grpSpPr>
            <p:cxnSp>
              <p:nvCxnSpPr>
                <p:cNvPr id="12" name="직선 연결선 11"/>
                <p:cNvCxnSpPr/>
                <p:nvPr/>
              </p:nvCxnSpPr>
              <p:spPr>
                <a:xfrm flipV="1">
                  <a:off x="3329025" y="913284"/>
                  <a:ext cx="2206873" cy="413117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직선 연결선 14"/>
                <p:cNvCxnSpPr/>
                <p:nvPr/>
              </p:nvCxnSpPr>
              <p:spPr>
                <a:xfrm flipV="1">
                  <a:off x="2159174" y="2065412"/>
                  <a:ext cx="4717082" cy="187220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2225874" y="1906882"/>
                  <a:ext cx="4362350" cy="2282123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/>
                <p:cNvCxnSpPr/>
                <p:nvPr/>
              </p:nvCxnSpPr>
              <p:spPr>
                <a:xfrm>
                  <a:off x="3203848" y="913284"/>
                  <a:ext cx="2332050" cy="413117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4" name="직선 연결선 43"/>
            <p:cNvCxnSpPr/>
            <p:nvPr/>
          </p:nvCxnSpPr>
          <p:spPr>
            <a:xfrm>
              <a:off x="5292080" y="2902775"/>
              <a:ext cx="0" cy="22935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6084168" y="2920631"/>
              <a:ext cx="0" cy="22935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직선 연결선 58"/>
            <p:cNvCxnSpPr/>
            <p:nvPr/>
          </p:nvCxnSpPr>
          <p:spPr>
            <a:xfrm flipH="1">
              <a:off x="4435797" y="2353444"/>
              <a:ext cx="303659" cy="355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 flipH="1">
              <a:off x="4427984" y="1561356"/>
              <a:ext cx="303659" cy="355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739456" y="2207817"/>
                  <a:ext cx="1026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/8)</m:t>
                            </m:r>
                          </m:e>
                        </m:fun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9456" y="2207817"/>
                  <a:ext cx="1026050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714" r="-22857" b="-6756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4875235" y="3152163"/>
                  <a:ext cx="10260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/8)</m:t>
                            </m:r>
                          </m:e>
                        </m:fun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235" y="3152163"/>
                  <a:ext cx="1026050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4965" r="-21986" b="-702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798343" y="1388165"/>
                  <a:ext cx="10692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co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/8)</m:t>
                            </m:r>
                          </m:e>
                        </m:fun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343" y="1388165"/>
                  <a:ext cx="1069267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740" r="-22603" b="-657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841653" y="2642259"/>
                  <a:ext cx="10692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co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/8)</m:t>
                            </m:r>
                          </m:e>
                        </m:fun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653" y="2642259"/>
                  <a:ext cx="1069267" cy="27699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2740" r="-22603" b="-657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7" name="그림 6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74" y="754059"/>
            <a:ext cx="4636570" cy="483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4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아래쪽 화살표 22"/>
          <p:cNvSpPr/>
          <p:nvPr/>
        </p:nvSpPr>
        <p:spPr>
          <a:xfrm>
            <a:off x="1115978" y="2487009"/>
            <a:ext cx="576064" cy="1195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2205402" y="1773146"/>
            <a:ext cx="1059251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23"/>
          <p:cNvSpPr/>
          <p:nvPr/>
        </p:nvSpPr>
        <p:spPr>
          <a:xfrm>
            <a:off x="4917814" y="1847364"/>
            <a:ext cx="107228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화살표 18"/>
          <p:cNvSpPr/>
          <p:nvPr/>
        </p:nvSpPr>
        <p:spPr>
          <a:xfrm>
            <a:off x="4919639" y="4009628"/>
            <a:ext cx="1070457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화살표 27"/>
          <p:cNvSpPr/>
          <p:nvPr/>
        </p:nvSpPr>
        <p:spPr>
          <a:xfrm>
            <a:off x="2248393" y="3964426"/>
            <a:ext cx="1011408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굽은 화살표 21"/>
          <p:cNvSpPr/>
          <p:nvPr/>
        </p:nvSpPr>
        <p:spPr>
          <a:xfrm rot="5400000">
            <a:off x="7716827" y="1796968"/>
            <a:ext cx="822090" cy="91199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굽은 화살표 30"/>
          <p:cNvSpPr/>
          <p:nvPr/>
        </p:nvSpPr>
        <p:spPr>
          <a:xfrm rot="10800000">
            <a:off x="7740073" y="3615903"/>
            <a:ext cx="843795" cy="91199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60032" y="5258007"/>
            <a:ext cx="313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</a:t>
            </a:r>
            <a:r>
              <a:rPr lang="ko-KR" altLang="en-US" sz="1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중국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55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 도시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남녀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1,346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948264" y="121196"/>
            <a:ext cx="20633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Block Diagram</a:t>
            </a:r>
            <a:endParaRPr lang="en-US" altLang="ko-KR" sz="2000" cap="all" spc="0" dirty="0">
              <a:ln w="0"/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sp>
        <p:nvSpPr>
          <p:cNvPr id="6" name="모서리가 둥근 직사각형 5"/>
          <p:cNvSpPr/>
          <p:nvPr/>
        </p:nvSpPr>
        <p:spPr>
          <a:xfrm>
            <a:off x="549218" y="1508997"/>
            <a:ext cx="165618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Randint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276521" y="1508997"/>
            <a:ext cx="165618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</a:t>
            </a:r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PSK Mapping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015692" y="1537969"/>
            <a:ext cx="165618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PN Spreading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556682" y="2664006"/>
            <a:ext cx="1518452" cy="9388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AWGN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261628" y="3712398"/>
            <a:ext cx="165618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</a:t>
            </a:r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PSK </a:t>
            </a:r>
          </a:p>
          <a:p>
            <a:pPr algn="ctr"/>
            <a:r>
              <a:rPr lang="en-US" altLang="ko-KR" dirty="0" err="1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Demapping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947494" y="3682297"/>
            <a:ext cx="1792579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PN </a:t>
            </a:r>
            <a:r>
              <a:rPr lang="en-US" altLang="ko-KR" dirty="0" err="1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Despreading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75918" y="3712398"/>
            <a:ext cx="165618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계산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3059832" y="2857500"/>
            <a:ext cx="2074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accent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[8PSK, 16QAM]</a:t>
            </a:r>
            <a:endParaRPr lang="ko-KR" altLang="en-US" sz="2000" dirty="0">
              <a:solidFill>
                <a:schemeClr val="accent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53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4860032" y="5258007"/>
            <a:ext cx="313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</a:t>
            </a:r>
            <a:r>
              <a:rPr lang="ko-KR" altLang="en-US" sz="1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중국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55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 도시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남녀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1,346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420515" y="153134"/>
            <a:ext cx="15424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b="1" cap="all" dirty="0" smtClean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sz="2000" b="1" cap="all" dirty="0" smtClean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그래프</a:t>
            </a:r>
            <a:endParaRPr lang="en-US" altLang="ko-KR" sz="2000" b="1" cap="all" spc="0" dirty="0">
              <a:ln w="0"/>
              <a:solidFill>
                <a:schemeClr val="accent1"/>
              </a:solidFill>
              <a:effectLst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grpSp>
        <p:nvGrpSpPr>
          <p:cNvPr id="6" name="그룹 5"/>
          <p:cNvGrpSpPr/>
          <p:nvPr/>
        </p:nvGrpSpPr>
        <p:grpSpPr>
          <a:xfrm>
            <a:off x="1331640" y="553244"/>
            <a:ext cx="6552728" cy="4887178"/>
            <a:chOff x="1691680" y="827823"/>
            <a:chExt cx="5907360" cy="443052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680" y="827823"/>
              <a:ext cx="5907360" cy="4430520"/>
            </a:xfrm>
            <a:prstGeom prst="rect">
              <a:avLst/>
            </a:prstGeom>
          </p:spPr>
        </p:pic>
        <p:grpSp>
          <p:nvGrpSpPr>
            <p:cNvPr id="4" name="그룹 3"/>
            <p:cNvGrpSpPr/>
            <p:nvPr/>
          </p:nvGrpSpPr>
          <p:grpSpPr>
            <a:xfrm>
              <a:off x="2476019" y="3289548"/>
              <a:ext cx="4536504" cy="1512168"/>
              <a:chOff x="2476019" y="3289548"/>
              <a:chExt cx="4536504" cy="1512168"/>
            </a:xfrm>
          </p:grpSpPr>
          <p:cxnSp>
            <p:nvCxnSpPr>
              <p:cNvPr id="7" name="직선 연결선 6"/>
              <p:cNvCxnSpPr/>
              <p:nvPr/>
            </p:nvCxnSpPr>
            <p:spPr>
              <a:xfrm flipV="1">
                <a:off x="2476019" y="3297297"/>
                <a:ext cx="4536504" cy="7749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" name="직선 화살표 연결선 7"/>
              <p:cNvCxnSpPr/>
              <p:nvPr/>
            </p:nvCxnSpPr>
            <p:spPr>
              <a:xfrm flipV="1">
                <a:off x="6122913" y="3289548"/>
                <a:ext cx="0" cy="1512168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215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4860032" y="5258007"/>
            <a:ext cx="313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</a:t>
            </a:r>
            <a:r>
              <a:rPr lang="ko-KR" altLang="en-US" sz="1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중국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55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 도시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남녀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1,346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420514" y="153134"/>
            <a:ext cx="15424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b="1" cap="all" dirty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sz="2000" b="1" cap="all" dirty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그래프</a:t>
            </a:r>
            <a:endParaRPr lang="en-US" altLang="ko-KR" sz="2000" b="1" cap="all" dirty="0">
              <a:ln w="0"/>
              <a:solidFill>
                <a:schemeClr val="accent1"/>
              </a:solidFill>
              <a:effectLst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grpSp>
        <p:nvGrpSpPr>
          <p:cNvPr id="6" name="그룹 5"/>
          <p:cNvGrpSpPr/>
          <p:nvPr/>
        </p:nvGrpSpPr>
        <p:grpSpPr>
          <a:xfrm>
            <a:off x="1331640" y="553244"/>
            <a:ext cx="6480720" cy="4852764"/>
            <a:chOff x="1410049" y="750681"/>
            <a:chExt cx="6192688" cy="464451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049" y="750681"/>
              <a:ext cx="6192688" cy="4644516"/>
            </a:xfrm>
            <a:prstGeom prst="rect">
              <a:avLst/>
            </a:prstGeom>
          </p:spPr>
        </p:pic>
        <p:cxnSp>
          <p:nvCxnSpPr>
            <p:cNvPr id="7" name="직선 연결선 6"/>
            <p:cNvCxnSpPr/>
            <p:nvPr/>
          </p:nvCxnSpPr>
          <p:spPr>
            <a:xfrm>
              <a:off x="2235741" y="3937620"/>
              <a:ext cx="475252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8" name="직선 화살표 연결선 7"/>
          <p:cNvCxnSpPr/>
          <p:nvPr/>
        </p:nvCxnSpPr>
        <p:spPr>
          <a:xfrm flipH="1" flipV="1">
            <a:off x="6467455" y="3883077"/>
            <a:ext cx="15498" cy="9906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1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4860032" y="5258007"/>
            <a:ext cx="313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</a:t>
            </a:r>
            <a:r>
              <a:rPr lang="ko-KR" altLang="en-US" sz="1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중국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55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 도시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남녀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1,346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308304" y="525263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420514" y="153134"/>
            <a:ext cx="15424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2000" b="1" cap="all" dirty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sz="2000" b="1" cap="all" dirty="0" smtClean="0">
                <a:ln w="0"/>
                <a:solidFill>
                  <a:schemeClr val="accent1"/>
                </a:solidFill>
                <a:effectLst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그래프</a:t>
            </a:r>
            <a:endParaRPr lang="en-US" altLang="ko-KR" sz="2000" b="1" cap="all" dirty="0">
              <a:ln w="0"/>
              <a:solidFill>
                <a:schemeClr val="accent1"/>
              </a:solidFill>
              <a:effectLst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grpSp>
        <p:nvGrpSpPr>
          <p:cNvPr id="14" name="그룹 13"/>
          <p:cNvGrpSpPr/>
          <p:nvPr/>
        </p:nvGrpSpPr>
        <p:grpSpPr>
          <a:xfrm>
            <a:off x="1687833" y="697261"/>
            <a:ext cx="6196536" cy="4793018"/>
            <a:chOff x="1763688" y="826960"/>
            <a:chExt cx="6044825" cy="453361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826960"/>
              <a:ext cx="6044825" cy="4533619"/>
            </a:xfrm>
            <a:prstGeom prst="rect">
              <a:avLst/>
            </a:prstGeom>
          </p:spPr>
        </p:pic>
        <p:cxnSp>
          <p:nvCxnSpPr>
            <p:cNvPr id="4" name="직선 연결선 3"/>
            <p:cNvCxnSpPr/>
            <p:nvPr/>
          </p:nvCxnSpPr>
          <p:spPr>
            <a:xfrm>
              <a:off x="2627784" y="3361556"/>
              <a:ext cx="460851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/>
            <p:nvPr/>
          </p:nvCxnSpPr>
          <p:spPr>
            <a:xfrm flipV="1">
              <a:off x="6300192" y="3361556"/>
              <a:ext cx="0" cy="151216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7308304" y="5273258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08304" y="5306609"/>
            <a:ext cx="1766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출처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대학내일 </a:t>
            </a:r>
            <a:r>
              <a:rPr lang="en-US" altLang="ko-KR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</a:t>
            </a:r>
            <a:r>
              <a:rPr lang="ko-KR" altLang="en-US" sz="1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 연구소</a:t>
            </a:r>
            <a:endParaRPr lang="ko-KR" altLang="en-US" sz="1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331640" y="553244"/>
            <a:ext cx="6480720" cy="4937034"/>
            <a:chOff x="1763688" y="826960"/>
            <a:chExt cx="6044825" cy="4533619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826960"/>
              <a:ext cx="6044825" cy="4533619"/>
            </a:xfrm>
            <a:prstGeom prst="rect">
              <a:avLst/>
            </a:prstGeom>
          </p:spPr>
        </p:pic>
        <p:cxnSp>
          <p:nvCxnSpPr>
            <p:cNvPr id="23" name="직선 연결선 22"/>
            <p:cNvCxnSpPr/>
            <p:nvPr/>
          </p:nvCxnSpPr>
          <p:spPr>
            <a:xfrm>
              <a:off x="2627784" y="3361556"/>
              <a:ext cx="460851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 flipV="1">
              <a:off x="6300192" y="3361556"/>
              <a:ext cx="0" cy="151216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309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43530" y="-98232"/>
            <a:ext cx="9187530" cy="5813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6303055" y="121196"/>
            <a:ext cx="27334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2000" b="1" cap="all" dirty="0" smtClean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결과 분석 및 원인 해석</a:t>
            </a:r>
            <a:endParaRPr lang="en-US" altLang="ko-KR" sz="2000" b="1" cap="all" spc="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04482" y="1148512"/>
            <a:ext cx="5971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ko-KR" altLang="en-US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현재 </a:t>
            </a:r>
            <a:r>
              <a:rPr lang="en-US" altLang="ko-KR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GPS </a:t>
            </a:r>
            <a:r>
              <a:rPr lang="ko-KR" altLang="en-US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위성의 확산 이득</a:t>
            </a:r>
            <a:r>
              <a:rPr lang="en-US" altLang="ko-KR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20,000</a:t>
            </a:r>
          </a:p>
          <a:p>
            <a:pPr marL="0" lvl="2"/>
            <a:r>
              <a:rPr lang="ko-KR" altLang="en-US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수신 측에 문제는 </a:t>
            </a:r>
            <a:r>
              <a:rPr lang="en-US" altLang="ko-KR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32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3729" y="2974221"/>
            <a:ext cx="63484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넓은 대역의 송신신호를 안정적으로 수신 요구 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endParaRPr lang="en-US" altLang="ko-KR" sz="2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미약한 신호를 증폭 하기 위한 </a:t>
            </a:r>
            <a:r>
              <a:rPr lang="ko-KR" altLang="en-US" sz="2000" dirty="0" err="1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저잡음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증폭기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앰프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요구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5527">
            <a:off x="395132" y="377945"/>
            <a:ext cx="1988626" cy="1988626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>
            <a:off x="1834762" y="2610134"/>
            <a:ext cx="473569" cy="14439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3" name="그림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32" y="4250060"/>
            <a:ext cx="767680" cy="767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9106" y="3410673"/>
            <a:ext cx="1687099" cy="38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약 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20,000km</a:t>
            </a:r>
            <a:endParaRPr lang="ko-KR" altLang="en-US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604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36512" y="-45640"/>
            <a:ext cx="9144000" cy="5760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2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7083718" y="121196"/>
            <a:ext cx="11721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2000" b="1" cap="all" dirty="0" smtClean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역할분담</a:t>
            </a:r>
            <a:endParaRPr lang="en-US" altLang="ko-KR" sz="2000" b="1" cap="all" spc="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50000" endPos="50000" dist="5000" dir="5400000" sy="-100000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23528" y="3126640"/>
            <a:ext cx="2016630" cy="2467164"/>
            <a:chOff x="1064262" y="2878678"/>
            <a:chExt cx="2016630" cy="246716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262" y="2878678"/>
              <a:ext cx="2016630" cy="201663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619672" y="4945732"/>
              <a:ext cx="9361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최정혁</a:t>
              </a:r>
              <a:endParaRPr lang="ko-KR" altLang="en-US" sz="2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732240" y="3108385"/>
            <a:ext cx="2083183" cy="2560350"/>
            <a:chOff x="6172651" y="2857500"/>
            <a:chExt cx="2083183" cy="256035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651" y="2857500"/>
              <a:ext cx="2083183" cy="208318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748715" y="5017740"/>
              <a:ext cx="9361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김지훈</a:t>
              </a:r>
              <a:endParaRPr lang="ko-KR" altLang="en-US" sz="2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19672" y="1088072"/>
            <a:ext cx="57606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QPSK Simulation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16QAM Simulation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</a:t>
            </a:r>
            <a:r>
              <a:rPr lang="ko-KR" altLang="en-US" sz="2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송수신 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자료조사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Source </a:t>
            </a:r>
            <a:r>
              <a:rPr lang="en-US" altLang="ko-KR" sz="2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oding (Mapper/</a:t>
            </a:r>
            <a:r>
              <a:rPr lang="en-US" altLang="ko-KR" sz="2000" dirty="0" err="1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Demapper</a:t>
            </a: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Simulation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BER 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그래프 분석 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8PSK 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송수신 자료조사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PPT </a:t>
            </a:r>
            <a:r>
              <a:rPr lang="ko-KR" altLang="en-US" sz="20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제작 및 발표</a:t>
            </a:r>
            <a:endParaRPr lang="en-US" altLang="ko-KR" sz="2000" dirty="0" smtClean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657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804248" y="121196"/>
            <a:ext cx="22413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프로젝트 진행일정</a:t>
            </a:r>
            <a:endParaRPr lang="ko-KR" altLang="en-US" sz="2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974669"/>
              </p:ext>
            </p:extLst>
          </p:nvPr>
        </p:nvGraphicFramePr>
        <p:xfrm>
          <a:off x="485539" y="1324951"/>
          <a:ext cx="8172922" cy="3788998"/>
        </p:xfrm>
        <a:graphic>
          <a:graphicData uri="http://schemas.openxmlformats.org/drawingml/2006/table">
            <a:tbl>
              <a:tblPr/>
              <a:tblGrid>
                <a:gridCol w="2125106"/>
                <a:gridCol w="1511954"/>
                <a:gridCol w="1511954"/>
                <a:gridCol w="1511954"/>
                <a:gridCol w="1511954"/>
              </a:tblGrid>
              <a:tr h="6142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5</a:t>
                      </a: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월 </a:t>
                      </a:r>
                      <a:r>
                        <a:rPr lang="en-US" altLang="ko-KR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24</a:t>
                      </a: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5</a:t>
                      </a: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월 </a:t>
                      </a:r>
                      <a:r>
                        <a:rPr lang="en-US" altLang="ko-KR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31</a:t>
                      </a: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6</a:t>
                      </a:r>
                      <a:r>
                        <a:rPr lang="ko-KR" altLang="en-US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월 </a:t>
                      </a:r>
                      <a:r>
                        <a:rPr lang="en-US" altLang="ko-KR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2</a:t>
                      </a:r>
                      <a:r>
                        <a:rPr lang="ko-KR" altLang="en-US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6</a:t>
                      </a:r>
                      <a:r>
                        <a:rPr lang="ko-KR" altLang="en-US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월 </a:t>
                      </a:r>
                      <a:r>
                        <a:rPr lang="en-US" altLang="ko-KR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6</a:t>
                      </a:r>
                      <a:r>
                        <a:rPr lang="ko-KR" altLang="en-US" sz="1400" kern="0" spc="0" dirty="0" smtClean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일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5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프로젝트 내용 숙지 및 계획수립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2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자료 수집 및 소스 코딩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2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시뮬레이션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2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결과 분석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2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FFFFFF"/>
                          </a:solidFill>
                          <a:effectLst/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발표 자료제작 및 준비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3148" marR="63148" marT="17458" marB="17458" anchor="ctr">
                    <a:lnL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오른쪽 화살표 10"/>
          <p:cNvSpPr/>
          <p:nvPr/>
        </p:nvSpPr>
        <p:spPr>
          <a:xfrm>
            <a:off x="2627784" y="2065412"/>
            <a:ext cx="1440160" cy="36004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4139952" y="2785492"/>
            <a:ext cx="1440160" cy="36004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4139952" y="3361556"/>
            <a:ext cx="2952328" cy="36004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4139952" y="4009628"/>
            <a:ext cx="2952328" cy="36004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5634355" y="4629067"/>
            <a:ext cx="3024106" cy="36004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052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7792372" y="121196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참고자</a:t>
            </a:r>
            <a:r>
              <a:rPr lang="ko-KR" altLang="en-US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료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9614" y="1692200"/>
            <a:ext cx="6241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whit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http://www.eetimes.com/document.asp?doc_id=1255090</a:t>
            </a:r>
            <a:endParaRPr lang="ko-KR" altLang="en-US" sz="1600" dirty="0">
              <a:solidFill>
                <a:prstClr val="white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932" y="2476938"/>
            <a:ext cx="8043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whit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http://cp.literature.agilent.com/litweb/pdf/ads2008/numeric/ads2008/Demapper.html</a:t>
            </a:r>
            <a:endParaRPr lang="ko-KR" altLang="en-US" sz="1600" dirty="0">
              <a:solidFill>
                <a:prstClr val="white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4993" y="3274690"/>
            <a:ext cx="7272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whit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http://</a:t>
            </a:r>
            <a:r>
              <a:rPr lang="en-US" altLang="ko-KR" sz="1600" dirty="0" smtClean="0">
                <a:solidFill>
                  <a:prstClr val="whit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ktechno.co.kr/techgisa/gps9908 </a:t>
            </a:r>
            <a:endParaRPr lang="ko-KR" altLang="en-US" sz="1600" dirty="0">
              <a:solidFill>
                <a:prstClr val="white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91232" y="1761301"/>
            <a:ext cx="144016" cy="12695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486718" y="2553389"/>
            <a:ext cx="144016" cy="12695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483009" y="3358387"/>
            <a:ext cx="144016" cy="12695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88C7-5CE8-4B29-B45E-39BB8A5345F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2" descr="C:\Users\Administrator\Desktop\aa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168" b="66396" l="5117" r="58287"/>
                    </a14:imgEffect>
                  </a14:imgLayer>
                </a14:imgProps>
              </a:ext>
            </a:extLst>
          </a:blip>
          <a:srcRect l="19188" t="53300" r="43270" b="37563"/>
          <a:stretch>
            <a:fillRect/>
          </a:stretch>
        </p:blipFill>
        <p:spPr bwMode="auto">
          <a:xfrm>
            <a:off x="82239" y="108940"/>
            <a:ext cx="1534603" cy="4092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554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3768" y="2281436"/>
            <a:ext cx="70567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 smtClean="0">
                <a:solidFill>
                  <a:schemeClr val="accent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 </a:t>
            </a:r>
            <a:r>
              <a:rPr lang="en-US" altLang="ko-KR" sz="6600" dirty="0" smtClean="0">
                <a:solidFill>
                  <a:schemeClr val="accent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57514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332</Words>
  <Application>Microsoft Office PowerPoint</Application>
  <PresentationFormat>화면 슬라이드 쇼(16:10)</PresentationFormat>
  <Paragraphs>98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Cambria Math</vt:lpstr>
      <vt:lpstr>Arial</vt:lpstr>
      <vt:lpstr>함초롬바탕</vt:lpstr>
      <vt:lpstr>맑은 고딕</vt:lpstr>
      <vt:lpstr>배달의민족 도현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김지훈</dc:creator>
  <cp:lastModifiedBy>Soji</cp:lastModifiedBy>
  <cp:revision>250</cp:revision>
  <dcterms:created xsi:type="dcterms:W3CDTF">2015-11-18T02:56:12Z</dcterms:created>
  <dcterms:modified xsi:type="dcterms:W3CDTF">2016-06-05T15:16:34Z</dcterms:modified>
</cp:coreProperties>
</file>